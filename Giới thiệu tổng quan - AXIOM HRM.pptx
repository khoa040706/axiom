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rts/chart1.xml" ContentType="application/vnd.openxmlformats-officedocument.drawingml.chart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168" d="100"/>
          <a:sy n="168" d="100"/>
        </p:scale>
        <p:origin x="336" y="1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Kết quả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2C55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69F7-4BAE-8612-8ADDC92AE6E0}"/>
              </c:ext>
            </c:extLst>
          </c:dPt>
          <c:dPt>
            <c:idx val="1"/>
            <c:bubble3D val="0"/>
            <c:spPr>
              <a:solidFill>
                <a:srgbClr val="C4121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9F7-4BAE-8612-8ADDC92AE6E0}"/>
              </c:ext>
            </c:extLst>
          </c:dPt>
          <c:cat>
            <c:strRef>
              <c:f>Sheet1!$A$2:$A$3</c:f>
              <c:strCache>
                <c:ptCount val="2"/>
                <c:pt idx="0">
                  <c:v>Pass (127)</c:v>
                </c:pt>
                <c:pt idx="1">
                  <c:v>Fail (5)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127</c:v>
                </c:pt>
                <c:pt idx="1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9F7-4BAE-8612-8ADDC92AE6E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252535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852704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2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12" Type="http://schemas.openxmlformats.org/officeDocument/2006/relationships/image" Target="../media/image2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Relationship Id="rId14" Type="http://schemas.openxmlformats.org/officeDocument/2006/relationships/image" Target="../media/image2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2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40.png"/><Relationship Id="rId7" Type="http://schemas.openxmlformats.org/officeDocument/2006/relationships/image" Target="../media/image4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0"/>
            <a:ext cx="2286000" cy="1097280"/>
          </a:xfrm>
          <a:prstGeom prst="rect">
            <a:avLst/>
          </a:prstGeom>
          <a:solidFill>
            <a:srgbClr val="C41210"/>
          </a:solidFill>
          <a:ln w="12700">
            <a:solidFill>
              <a:srgbClr val="C4121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0"/>
            <a:ext cx="1371600" cy="228600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252535"/>
          </a:solidFill>
          <a:ln w="12700">
            <a:solidFill>
              <a:srgbClr val="25253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663440"/>
            <a:ext cx="3200400" cy="480060"/>
          </a:xfrm>
          <a:prstGeom prst="rect">
            <a:avLst/>
          </a:prstGeom>
          <a:solidFill>
            <a:srgbClr val="C41210"/>
          </a:solidFill>
          <a:ln w="12700">
            <a:solidFill>
              <a:srgbClr val="C4121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77312" y="258989"/>
            <a:ext cx="29547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ĐẠI HỌC TÔN ĐỨC THẮNG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577312" y="576072"/>
            <a:ext cx="326409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Khoa Công nghệ Thông tin  |  Môn: Công nghệ Phần mềm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05156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00" b="1" kern="0" spc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AXIOM</a:t>
            </a:r>
            <a:endParaRPr lang="en-US" sz="8200" dirty="0"/>
          </a:p>
        </p:txBody>
      </p:sp>
      <p:sp>
        <p:nvSpPr>
          <p:cNvPr id="9" name="Text 7"/>
          <p:cNvSpPr/>
          <p:nvPr/>
        </p:nvSpPr>
        <p:spPr>
          <a:xfrm>
            <a:off x="457200" y="201168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00" b="1" kern="0" spc="800" dirty="0">
                <a:solidFill>
                  <a:srgbClr val="C412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HRM</a:t>
            </a:r>
            <a:endParaRPr lang="en-US" sz="8200" dirty="0"/>
          </a:p>
        </p:txBody>
      </p:sp>
      <p:sp>
        <p:nvSpPr>
          <p:cNvPr id="10" name="Text 8"/>
          <p:cNvSpPr/>
          <p:nvPr/>
        </p:nvSpPr>
        <p:spPr>
          <a:xfrm>
            <a:off x="457200" y="30175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 Quản lý Nhân sự và Tiền lương Doanh nghiệp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7200" y="3493008"/>
            <a:ext cx="8229600" cy="22860"/>
          </a:xfrm>
          <a:prstGeom prst="rect">
            <a:avLst/>
          </a:prstGeom>
          <a:solidFill>
            <a:srgbClr val="3A3A55"/>
          </a:solidFill>
          <a:ln w="12700">
            <a:solidFill>
              <a:srgbClr val="3A3A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56616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GVHD: Cô Võ Thị Kim Anh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3886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Hoàng Thái Đăng Khoa  52400017  (Dev + PM)  ·  Lê Minh Gia Bảo  52400004  (BA)  ·  Lê Tuấn Kiệt  52400133  (Tester)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74320" y="470916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Công nghệ Phần mềm  ·  2025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0" y="4709160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Nhóm: 52400017 – 52400004 – 52400133</a:t>
            </a:r>
            <a:endParaRPr lang="en-US" sz="1000" dirty="0"/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74034" y="-146758"/>
            <a:ext cx="2470051" cy="139079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64008" cy="502920"/>
          </a:xfrm>
          <a:prstGeom prst="rect">
            <a:avLst/>
          </a:prstGeom>
          <a:solidFill>
            <a:srgbClr val="C41210"/>
          </a:solidFill>
          <a:ln w="12700">
            <a:solidFill>
              <a:srgbClr val="C4121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828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NỘI DUNG TRÌNH BÀY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8580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457200" cy="475488"/>
          </a:xfrm>
          <a:prstGeom prst="rect">
            <a:avLst/>
          </a:prstGeom>
          <a:solidFill>
            <a:srgbClr val="2D2D42"/>
          </a:solidFill>
          <a:ln w="12700">
            <a:solidFill>
              <a:srgbClr val="3A3A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05840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96112" y="1005840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Bối cảnh &amp; Mục tiêu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764792"/>
            <a:ext cx="457200" cy="475488"/>
          </a:xfrm>
          <a:prstGeom prst="rect">
            <a:avLst/>
          </a:prstGeom>
          <a:solidFill>
            <a:srgbClr val="2D2D42"/>
          </a:solidFill>
          <a:ln w="12700">
            <a:solidFill>
              <a:srgbClr val="3A3A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764792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96112" y="1764792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Công nghệ sử dụng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2523744"/>
            <a:ext cx="457200" cy="475488"/>
          </a:xfrm>
          <a:prstGeom prst="rect">
            <a:avLst/>
          </a:prstGeom>
          <a:solidFill>
            <a:srgbClr val="2D2D42"/>
          </a:solidFill>
          <a:ln w="12700">
            <a:solidFill>
              <a:srgbClr val="3A3A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523744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96112" y="2523744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Kiến trúc &amp; Database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5760" y="3282696"/>
            <a:ext cx="457200" cy="475488"/>
          </a:xfrm>
          <a:prstGeom prst="rect">
            <a:avLst/>
          </a:prstGeom>
          <a:solidFill>
            <a:srgbClr val="2D2D42"/>
          </a:solidFill>
          <a:ln w="12700">
            <a:solidFill>
              <a:srgbClr val="3A3A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282696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96112" y="3282696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&amp; Phân quyền RBAC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4041648"/>
            <a:ext cx="457200" cy="475488"/>
          </a:xfrm>
          <a:prstGeom prst="rect">
            <a:avLst/>
          </a:prstGeom>
          <a:solidFill>
            <a:srgbClr val="2D2D42"/>
          </a:solidFill>
          <a:ln w="12700">
            <a:solidFill>
              <a:srgbClr val="3A3A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4041648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96112" y="4041648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Công thức tính lương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754880" y="1005840"/>
            <a:ext cx="457200" cy="475488"/>
          </a:xfrm>
          <a:prstGeom prst="rect">
            <a:avLst/>
          </a:prstGeom>
          <a:solidFill>
            <a:srgbClr val="C41210"/>
          </a:solidFill>
          <a:ln w="12700">
            <a:solidFill>
              <a:srgbClr val="C4121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1005840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285232" y="1005840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Chấm công GPS — Chi tiết kỹ thuật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754880" y="1764792"/>
            <a:ext cx="457200" cy="475488"/>
          </a:xfrm>
          <a:prstGeom prst="rect">
            <a:avLst/>
          </a:prstGeom>
          <a:solidFill>
            <a:srgbClr val="C41210"/>
          </a:solidFill>
          <a:ln w="12700">
            <a:solidFill>
              <a:srgbClr val="C4121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1764792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285232" y="1764792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Giao diện &amp; Tính năng nổi bật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754880" y="2523744"/>
            <a:ext cx="457200" cy="475488"/>
          </a:xfrm>
          <a:prstGeom prst="rect">
            <a:avLst/>
          </a:prstGeom>
          <a:solidFill>
            <a:srgbClr val="2D2D42"/>
          </a:solidFill>
          <a:ln w="12700">
            <a:solidFill>
              <a:srgbClr val="3A3A5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2523744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285232" y="2523744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Kiểm thử &amp; Kết quả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754880" y="3282696"/>
            <a:ext cx="457200" cy="475488"/>
          </a:xfrm>
          <a:prstGeom prst="rect">
            <a:avLst/>
          </a:prstGeom>
          <a:solidFill>
            <a:srgbClr val="2D2D42"/>
          </a:solidFill>
          <a:ln w="12700">
            <a:solidFill>
              <a:srgbClr val="3A3A5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0" y="3282696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285232" y="3282696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luận &amp; Hỏi đáp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64008" cy="502920"/>
          </a:xfrm>
          <a:prstGeom prst="rect">
            <a:avLst/>
          </a:prstGeom>
          <a:solidFill>
            <a:srgbClr val="C41210"/>
          </a:solidFill>
          <a:ln w="12700">
            <a:solidFill>
              <a:srgbClr val="C4121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828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Bối cảnh &amp; Vấn đề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8580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Tại sao cần AXIOM HRM?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8412480" cy="1051560"/>
          </a:xfrm>
          <a:prstGeom prst="rect">
            <a:avLst/>
          </a:prstGeom>
          <a:solidFill>
            <a:srgbClr val="2D2D42"/>
          </a:solidFill>
          <a:ln w="6350">
            <a:solidFill>
              <a:srgbClr val="3A3A5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14400"/>
            <a:ext cx="548640" cy="1051560"/>
          </a:xfrm>
          <a:prstGeom prst="rect">
            <a:avLst/>
          </a:prstGeom>
          <a:solidFill>
            <a:srgbClr val="C41210"/>
          </a:solidFill>
          <a:ln w="12700">
            <a:solidFill>
              <a:srgbClr val="C4121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914400"/>
            <a:ext cx="548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1207008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91640" y="1024128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Dữ liệu phân tán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691640" y="1389888"/>
            <a:ext cx="6858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Nhân sự, chấm công, lương nằm rải rác trên Excel, giấy tờ — khó tổng hợp, dễ thất lạc.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65760" y="2103120"/>
            <a:ext cx="8412480" cy="1051560"/>
          </a:xfrm>
          <a:prstGeom prst="rect">
            <a:avLst/>
          </a:prstGeom>
          <a:solidFill>
            <a:srgbClr val="2D2D42"/>
          </a:solidFill>
          <a:ln w="6350">
            <a:solidFill>
              <a:srgbClr val="3A3A5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65760" y="2103120"/>
            <a:ext cx="548640" cy="1051560"/>
          </a:xfrm>
          <a:prstGeom prst="rect">
            <a:avLst/>
          </a:prstGeom>
          <a:solidFill>
            <a:srgbClr val="C41210"/>
          </a:solidFill>
          <a:ln w="12700">
            <a:solidFill>
              <a:srgbClr val="C4121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65760" y="2103120"/>
            <a:ext cx="548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" y="2395728"/>
            <a:ext cx="457200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691640" y="2212848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 sót thủ công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1691640" y="2578608"/>
            <a:ext cx="6858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Tính lương bằng tay dễ nhầm công thức BH, thuế, OT — ảnh hưởng trực tiếp quyền lợi nhân viên.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365760" y="3291840"/>
            <a:ext cx="8412480" cy="1051560"/>
          </a:xfrm>
          <a:prstGeom prst="rect">
            <a:avLst/>
          </a:prstGeom>
          <a:solidFill>
            <a:srgbClr val="2D2D42"/>
          </a:solidFill>
          <a:ln w="6350">
            <a:solidFill>
              <a:srgbClr val="3A3A5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365760" y="3291840"/>
            <a:ext cx="548640" cy="1051560"/>
          </a:xfrm>
          <a:prstGeom prst="rect">
            <a:avLst/>
          </a:prstGeom>
          <a:solidFill>
            <a:srgbClr val="C41210"/>
          </a:solidFill>
          <a:ln w="12700">
            <a:solidFill>
              <a:srgbClr val="C41210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365760" y="3291840"/>
            <a:ext cx="548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7280" y="3584448"/>
            <a:ext cx="457200" cy="4572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691640" y="3401568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Thiếu minh bạch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1691640" y="3767328"/>
            <a:ext cx="6858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Nhân viên không biết lương mình tính thế nào, không xem được phiếu lương — mất niềm tin.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365760" y="4480560"/>
            <a:ext cx="8412480" cy="475488"/>
          </a:xfrm>
          <a:prstGeom prst="rect">
            <a:avLst/>
          </a:prstGeom>
          <a:solidFill>
            <a:srgbClr val="C41210"/>
          </a:solidFill>
          <a:ln w="12700">
            <a:solidFill>
              <a:srgbClr val="C41210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365760" y="448056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Giải pháp: AXIOM HRM — Tự động hóa toàn bộ quy trình HR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64008" cy="502920"/>
          </a:xfrm>
          <a:prstGeom prst="rect">
            <a:avLst/>
          </a:prstGeom>
          <a:solidFill>
            <a:srgbClr val="C41210"/>
          </a:solidFill>
          <a:ln w="12700">
            <a:solidFill>
              <a:srgbClr val="C4121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828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Mục tiêu &amp; Phạm vi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8580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phân hệ nghiệp vụ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4206240" cy="868680"/>
          </a:xfrm>
          <a:prstGeom prst="rect">
            <a:avLst/>
          </a:prstGeom>
          <a:solidFill>
            <a:srgbClr val="2D2D42"/>
          </a:solidFill>
          <a:ln w="6350">
            <a:solidFill>
              <a:srgbClr val="3A3A5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914400"/>
            <a:ext cx="54864" cy="868680"/>
          </a:xfrm>
          <a:prstGeom prst="rect">
            <a:avLst/>
          </a:prstGeom>
          <a:solidFill>
            <a:srgbClr val="C41210"/>
          </a:solidFill>
          <a:ln w="12700">
            <a:solidFill>
              <a:srgbClr val="C4121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48056" y="1069848"/>
            <a:ext cx="475488" cy="475488"/>
          </a:xfrm>
          <a:prstGeom prst="line">
            <a:avLst/>
          </a:prstGeom>
          <a:solidFill>
            <a:srgbClr val="C41210"/>
          </a:solidFill>
          <a:ln w="6350">
            <a:solidFill>
              <a:srgbClr val="8B0000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" y="1115568"/>
            <a:ext cx="384048" cy="38404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05840" y="100584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HR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05840" y="1325880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Hồ sơ nhân viên, hợp đồng lao động, quá trình công tác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709160" y="914400"/>
            <a:ext cx="4206240" cy="868680"/>
          </a:xfrm>
          <a:prstGeom prst="rect">
            <a:avLst/>
          </a:prstGeom>
          <a:solidFill>
            <a:srgbClr val="2D2D42"/>
          </a:solidFill>
          <a:ln w="6350">
            <a:solidFill>
              <a:srgbClr val="3A3A5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09160" y="914400"/>
            <a:ext cx="54864" cy="868680"/>
          </a:xfrm>
          <a:prstGeom prst="rect">
            <a:avLst/>
          </a:prstGeom>
          <a:solidFill>
            <a:srgbClr val="C41210"/>
          </a:solidFill>
          <a:ln w="12700">
            <a:solidFill>
              <a:srgbClr val="C4121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837176" y="1069848"/>
            <a:ext cx="475488" cy="475488"/>
          </a:xfrm>
          <a:prstGeom prst="line">
            <a:avLst/>
          </a:prstGeom>
          <a:solidFill>
            <a:srgbClr val="C41210"/>
          </a:solidFill>
          <a:ln w="6350">
            <a:solidFill>
              <a:srgbClr val="8B0000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2896" y="1115568"/>
            <a:ext cx="384048" cy="38404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394960" y="100584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&amp; Attendance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5394960" y="1325880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Chấm công GPS, ngày công, giờ OT, phút đi muộn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320040" y="1965960"/>
            <a:ext cx="4206240" cy="868680"/>
          </a:xfrm>
          <a:prstGeom prst="rect">
            <a:avLst/>
          </a:prstGeom>
          <a:solidFill>
            <a:srgbClr val="2D2D42"/>
          </a:solidFill>
          <a:ln w="6350">
            <a:solidFill>
              <a:srgbClr val="3A3A5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320040" y="1965960"/>
            <a:ext cx="54864" cy="868680"/>
          </a:xfrm>
          <a:prstGeom prst="rect">
            <a:avLst/>
          </a:prstGeom>
          <a:solidFill>
            <a:srgbClr val="C41210"/>
          </a:solidFill>
          <a:ln w="12700">
            <a:solidFill>
              <a:srgbClr val="C41210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448056" y="2121408"/>
            <a:ext cx="475488" cy="475488"/>
          </a:xfrm>
          <a:prstGeom prst="line">
            <a:avLst/>
          </a:prstGeom>
          <a:solidFill>
            <a:srgbClr val="C41210"/>
          </a:solidFill>
          <a:ln w="6350">
            <a:solidFill>
              <a:srgbClr val="8B0000"/>
            </a:solidFill>
            <a:prstDash val="solid"/>
          </a:ln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" y="2167128"/>
            <a:ext cx="384048" cy="38404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005840" y="205740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Management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1005840" y="2377440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Đăng ký nghỉ phép, duyệt đơn, quỹ phép năm</a:t>
            </a:r>
            <a:endParaRPr lang="en-US" sz="950" dirty="0"/>
          </a:p>
        </p:txBody>
      </p:sp>
      <p:sp>
        <p:nvSpPr>
          <p:cNvPr id="23" name="Shape 18"/>
          <p:cNvSpPr/>
          <p:nvPr/>
        </p:nvSpPr>
        <p:spPr>
          <a:xfrm>
            <a:off x="4709160" y="1965960"/>
            <a:ext cx="4206240" cy="868680"/>
          </a:xfrm>
          <a:prstGeom prst="rect">
            <a:avLst/>
          </a:prstGeom>
          <a:solidFill>
            <a:srgbClr val="2D2D42"/>
          </a:solidFill>
          <a:ln w="6350">
            <a:solidFill>
              <a:srgbClr val="3A3A5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4709160" y="1965960"/>
            <a:ext cx="54864" cy="868680"/>
          </a:xfrm>
          <a:prstGeom prst="rect">
            <a:avLst/>
          </a:prstGeom>
          <a:solidFill>
            <a:srgbClr val="C41210"/>
          </a:solidFill>
          <a:ln w="12700">
            <a:solidFill>
              <a:srgbClr val="C41210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4837176" y="2121408"/>
            <a:ext cx="475488" cy="475488"/>
          </a:xfrm>
          <a:prstGeom prst="line">
            <a:avLst/>
          </a:prstGeom>
          <a:solidFill>
            <a:srgbClr val="C41210"/>
          </a:solidFill>
          <a:ln w="6350">
            <a:solidFill>
              <a:srgbClr val="8B0000"/>
            </a:solidFill>
            <a:prstDash val="solid"/>
          </a:ln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82896" y="2167128"/>
            <a:ext cx="384048" cy="384048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5394960" y="205740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Trip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5394960" y="2377440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Lệnh công tác, phụ cấp công tác phí</a:t>
            </a:r>
            <a:endParaRPr lang="en-US" sz="950" dirty="0"/>
          </a:p>
        </p:txBody>
      </p:sp>
      <p:sp>
        <p:nvSpPr>
          <p:cNvPr id="29" name="Shape 23"/>
          <p:cNvSpPr/>
          <p:nvPr/>
        </p:nvSpPr>
        <p:spPr>
          <a:xfrm>
            <a:off x="320040" y="3017520"/>
            <a:ext cx="4206240" cy="868680"/>
          </a:xfrm>
          <a:prstGeom prst="rect">
            <a:avLst/>
          </a:prstGeom>
          <a:solidFill>
            <a:srgbClr val="2D2D42"/>
          </a:solidFill>
          <a:ln w="6350">
            <a:solidFill>
              <a:srgbClr val="3A3A5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320040" y="3017520"/>
            <a:ext cx="54864" cy="868680"/>
          </a:xfrm>
          <a:prstGeom prst="rect">
            <a:avLst/>
          </a:prstGeom>
          <a:solidFill>
            <a:srgbClr val="C41210"/>
          </a:solidFill>
          <a:ln w="12700">
            <a:solidFill>
              <a:srgbClr val="C41210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448056" y="3172968"/>
            <a:ext cx="475488" cy="475488"/>
          </a:xfrm>
          <a:prstGeom prst="line">
            <a:avLst/>
          </a:prstGeom>
          <a:solidFill>
            <a:srgbClr val="C41210"/>
          </a:solidFill>
          <a:ln w="6350">
            <a:solidFill>
              <a:srgbClr val="8B0000"/>
            </a:solidFill>
            <a:prstDash val="solid"/>
          </a:ln>
        </p:spPr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3776" y="3218688"/>
            <a:ext cx="384048" cy="384048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1005840" y="310896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Payroll</a:t>
            </a:r>
            <a:endParaRPr lang="en-US" sz="1200" dirty="0"/>
          </a:p>
        </p:txBody>
      </p:sp>
      <p:sp>
        <p:nvSpPr>
          <p:cNvPr id="34" name="Text 27"/>
          <p:cNvSpPr/>
          <p:nvPr/>
        </p:nvSpPr>
        <p:spPr>
          <a:xfrm>
            <a:off x="1005840" y="3429000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Tính lương tự động Gross→Net theo luật VN, phiếu lương PDF</a:t>
            </a:r>
            <a:endParaRPr lang="en-US" sz="950" dirty="0"/>
          </a:p>
        </p:txBody>
      </p:sp>
      <p:sp>
        <p:nvSpPr>
          <p:cNvPr id="35" name="Shape 28"/>
          <p:cNvSpPr/>
          <p:nvPr/>
        </p:nvSpPr>
        <p:spPr>
          <a:xfrm>
            <a:off x="4709160" y="3017520"/>
            <a:ext cx="4206240" cy="868680"/>
          </a:xfrm>
          <a:prstGeom prst="rect">
            <a:avLst/>
          </a:prstGeom>
          <a:solidFill>
            <a:srgbClr val="2D2D42"/>
          </a:solidFill>
          <a:ln w="6350">
            <a:solidFill>
              <a:srgbClr val="3A3A5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6" name="Shape 29"/>
          <p:cNvSpPr/>
          <p:nvPr/>
        </p:nvSpPr>
        <p:spPr>
          <a:xfrm>
            <a:off x="4709160" y="3017520"/>
            <a:ext cx="54864" cy="868680"/>
          </a:xfrm>
          <a:prstGeom prst="rect">
            <a:avLst/>
          </a:prstGeom>
          <a:solidFill>
            <a:srgbClr val="C41210"/>
          </a:solidFill>
          <a:ln w="12700">
            <a:solidFill>
              <a:srgbClr val="C41210"/>
            </a:solidFill>
            <a:prstDash val="solid"/>
          </a:ln>
        </p:spPr>
      </p:sp>
      <p:sp>
        <p:nvSpPr>
          <p:cNvPr id="37" name="Shape 30"/>
          <p:cNvSpPr/>
          <p:nvPr/>
        </p:nvSpPr>
        <p:spPr>
          <a:xfrm>
            <a:off x="4837176" y="3172968"/>
            <a:ext cx="475488" cy="475488"/>
          </a:xfrm>
          <a:prstGeom prst="line">
            <a:avLst/>
          </a:prstGeom>
          <a:solidFill>
            <a:srgbClr val="C41210"/>
          </a:solidFill>
          <a:ln w="6350">
            <a:solidFill>
              <a:srgbClr val="8B0000"/>
            </a:solidFill>
            <a:prstDash val="solid"/>
          </a:ln>
        </p:spPr>
      </p:sp>
      <p:pic>
        <p:nvPicPr>
          <p:cNvPr id="3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82896" y="3218688"/>
            <a:ext cx="384048" cy="384048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5394960" y="310896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</a:t>
            </a:r>
            <a:endParaRPr lang="en-US" sz="1200" dirty="0"/>
          </a:p>
        </p:txBody>
      </p:sp>
      <p:sp>
        <p:nvSpPr>
          <p:cNvPr id="40" name="Text 32"/>
          <p:cNvSpPr/>
          <p:nvPr/>
        </p:nvSpPr>
        <p:spPr>
          <a:xfrm>
            <a:off x="5394960" y="3429000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Dashboard đa vai trò, xuất báo cáo Excel/PDF</a:t>
            </a:r>
            <a:endParaRPr lang="en-US" sz="950" dirty="0"/>
          </a:p>
        </p:txBody>
      </p:sp>
      <p:sp>
        <p:nvSpPr>
          <p:cNvPr id="41" name="Shape 33"/>
          <p:cNvSpPr/>
          <p:nvPr/>
        </p:nvSpPr>
        <p:spPr>
          <a:xfrm>
            <a:off x="320040" y="4069080"/>
            <a:ext cx="4206240" cy="868680"/>
          </a:xfrm>
          <a:prstGeom prst="rect">
            <a:avLst/>
          </a:prstGeom>
          <a:solidFill>
            <a:srgbClr val="2D2D42"/>
          </a:solidFill>
          <a:ln w="6350">
            <a:solidFill>
              <a:srgbClr val="3A3A5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2" name="Shape 34"/>
          <p:cNvSpPr/>
          <p:nvPr/>
        </p:nvSpPr>
        <p:spPr>
          <a:xfrm>
            <a:off x="320040" y="4069080"/>
            <a:ext cx="54864" cy="868680"/>
          </a:xfrm>
          <a:prstGeom prst="rect">
            <a:avLst/>
          </a:prstGeom>
          <a:solidFill>
            <a:srgbClr val="C41210"/>
          </a:solidFill>
          <a:ln w="12700">
            <a:solidFill>
              <a:srgbClr val="C41210"/>
            </a:solidFill>
            <a:prstDash val="solid"/>
          </a:ln>
        </p:spPr>
      </p:sp>
      <p:sp>
        <p:nvSpPr>
          <p:cNvPr id="43" name="Shape 35"/>
          <p:cNvSpPr/>
          <p:nvPr/>
        </p:nvSpPr>
        <p:spPr>
          <a:xfrm>
            <a:off x="448056" y="4224528"/>
            <a:ext cx="475488" cy="475488"/>
          </a:xfrm>
          <a:prstGeom prst="line">
            <a:avLst/>
          </a:prstGeom>
          <a:solidFill>
            <a:srgbClr val="C41210"/>
          </a:solidFill>
          <a:ln w="6350">
            <a:solidFill>
              <a:srgbClr val="8B0000"/>
            </a:solidFill>
            <a:prstDash val="solid"/>
          </a:ln>
        </p:spPr>
      </p:sp>
      <p:pic>
        <p:nvPicPr>
          <p:cNvPr id="44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3776" y="4270248"/>
            <a:ext cx="384048" cy="384048"/>
          </a:xfrm>
          <a:prstGeom prst="rect">
            <a:avLst/>
          </a:prstGeom>
        </p:spPr>
      </p:pic>
      <p:sp>
        <p:nvSpPr>
          <p:cNvPr id="45" name="Text 36"/>
          <p:cNvSpPr/>
          <p:nvPr/>
        </p:nvSpPr>
        <p:spPr>
          <a:xfrm>
            <a:off x="1005840" y="416052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Admin</a:t>
            </a:r>
            <a:endParaRPr lang="en-US" sz="1200" dirty="0"/>
          </a:p>
        </p:txBody>
      </p:sp>
      <p:sp>
        <p:nvSpPr>
          <p:cNvPr id="46" name="Text 37"/>
          <p:cNvSpPr/>
          <p:nvPr/>
        </p:nvSpPr>
        <p:spPr>
          <a:xfrm>
            <a:off x="1005840" y="4480560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lý tài khoản, phân quyền RBAC 6 vai trò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64008" cy="502920"/>
          </a:xfrm>
          <a:prstGeom prst="rect">
            <a:avLst/>
          </a:prstGeom>
          <a:solidFill>
            <a:srgbClr val="C41210"/>
          </a:solidFill>
          <a:ln w="12700">
            <a:solidFill>
              <a:srgbClr val="C4121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828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Công nghệ sử dụng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8580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công nghệ chính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28600" y="960120"/>
            <a:ext cx="2148840" cy="1097280"/>
          </a:xfrm>
          <a:prstGeom prst="rect">
            <a:avLst/>
          </a:prstGeom>
          <a:solidFill>
            <a:srgbClr val="2D2D42"/>
          </a:solidFill>
          <a:ln w="6350">
            <a:solidFill>
              <a:srgbClr val="3A3A5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960120"/>
            <a:ext cx="2148840" cy="54864"/>
          </a:xfrm>
          <a:prstGeom prst="rect">
            <a:avLst/>
          </a:prstGeom>
          <a:solidFill>
            <a:srgbClr val="61DAFB"/>
          </a:solidFill>
          <a:ln w="12700">
            <a:solidFill>
              <a:srgbClr val="61DAFB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143000"/>
            <a:ext cx="438912" cy="4389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86968" y="1115568"/>
            <a:ext cx="1399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16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886968" y="1472184"/>
            <a:ext cx="1399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React App Router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2468880" y="960120"/>
            <a:ext cx="2148840" cy="1097280"/>
          </a:xfrm>
          <a:prstGeom prst="rect">
            <a:avLst/>
          </a:prstGeom>
          <a:solidFill>
            <a:srgbClr val="2D2D42"/>
          </a:solidFill>
          <a:ln w="6350">
            <a:solidFill>
              <a:srgbClr val="3A3A5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468880" y="960120"/>
            <a:ext cx="2148840" cy="54864"/>
          </a:xfrm>
          <a:prstGeom prst="rect">
            <a:avLst/>
          </a:prstGeom>
          <a:solidFill>
            <a:srgbClr val="3178C6"/>
          </a:solidFill>
          <a:ln w="12700">
            <a:solidFill>
              <a:srgbClr val="3178C6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06040" y="1143000"/>
            <a:ext cx="438912" cy="43891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127248" y="1115568"/>
            <a:ext cx="1399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5.7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3127248" y="1472184"/>
            <a:ext cx="1399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Type-safe codebase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4709160" y="960120"/>
            <a:ext cx="2148840" cy="1097280"/>
          </a:xfrm>
          <a:prstGeom prst="rect">
            <a:avLst/>
          </a:prstGeom>
          <a:solidFill>
            <a:srgbClr val="2D2D42"/>
          </a:solidFill>
          <a:ln w="6350">
            <a:solidFill>
              <a:srgbClr val="3A3A5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709160" y="960120"/>
            <a:ext cx="2148840" cy="5486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0" y="1143000"/>
            <a:ext cx="438912" cy="43891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367528" y="1115568"/>
            <a:ext cx="1399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 v4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5367528" y="1472184"/>
            <a:ext cx="1399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Utility-first UI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6949440" y="960120"/>
            <a:ext cx="2148840" cy="1097280"/>
          </a:xfrm>
          <a:prstGeom prst="rect">
            <a:avLst/>
          </a:prstGeom>
          <a:solidFill>
            <a:srgbClr val="2D2D42"/>
          </a:solidFill>
          <a:ln w="6350">
            <a:solidFill>
              <a:srgbClr val="3A3A5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949440" y="960120"/>
            <a:ext cx="2148840" cy="54864"/>
          </a:xfrm>
          <a:prstGeom prst="rect">
            <a:avLst/>
          </a:prstGeom>
          <a:solidFill>
            <a:srgbClr val="336791"/>
          </a:solidFill>
          <a:ln w="12700">
            <a:solidFill>
              <a:srgbClr val="336791"/>
            </a:solidFill>
            <a:prstDash val="solid"/>
          </a:ln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86600" y="1143000"/>
            <a:ext cx="438912" cy="43891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607808" y="1115568"/>
            <a:ext cx="1399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17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7607808" y="1472184"/>
            <a:ext cx="1399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RDBMS chính (Docker)</a:t>
            </a:r>
            <a:endParaRPr lang="en-US" sz="950" dirty="0"/>
          </a:p>
        </p:txBody>
      </p:sp>
      <p:sp>
        <p:nvSpPr>
          <p:cNvPr id="25" name="Shape 19"/>
          <p:cNvSpPr/>
          <p:nvPr/>
        </p:nvSpPr>
        <p:spPr>
          <a:xfrm>
            <a:off x="228600" y="2167128"/>
            <a:ext cx="2148840" cy="1097280"/>
          </a:xfrm>
          <a:prstGeom prst="rect">
            <a:avLst/>
          </a:prstGeom>
          <a:solidFill>
            <a:srgbClr val="2D2D42"/>
          </a:solidFill>
          <a:ln w="6350">
            <a:solidFill>
              <a:srgbClr val="3A3A5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228600" y="2167128"/>
            <a:ext cx="2148840" cy="54864"/>
          </a:xfrm>
          <a:prstGeom prst="rect">
            <a:avLst/>
          </a:prstGeom>
          <a:solidFill>
            <a:srgbClr val="5A67D8"/>
          </a:solidFill>
          <a:ln w="12700">
            <a:solidFill>
              <a:srgbClr val="5A67D8"/>
            </a:solidFill>
            <a:prstDash val="solid"/>
          </a:ln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5760" y="2350008"/>
            <a:ext cx="438912" cy="43891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886968" y="2322576"/>
            <a:ext cx="1399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 ORM 7</a:t>
            </a:r>
            <a:endParaRPr lang="en-US" sz="1150" dirty="0"/>
          </a:p>
        </p:txBody>
      </p:sp>
      <p:sp>
        <p:nvSpPr>
          <p:cNvPr id="29" name="Text 22"/>
          <p:cNvSpPr/>
          <p:nvPr/>
        </p:nvSpPr>
        <p:spPr>
          <a:xfrm>
            <a:off x="886968" y="2679192"/>
            <a:ext cx="1399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Type-safe + Migration</a:t>
            </a:r>
            <a:endParaRPr lang="en-US" sz="950" dirty="0"/>
          </a:p>
        </p:txBody>
      </p:sp>
      <p:sp>
        <p:nvSpPr>
          <p:cNvPr id="30" name="Shape 23"/>
          <p:cNvSpPr/>
          <p:nvPr/>
        </p:nvSpPr>
        <p:spPr>
          <a:xfrm>
            <a:off x="2468880" y="2167128"/>
            <a:ext cx="2148840" cy="1097280"/>
          </a:xfrm>
          <a:prstGeom prst="rect">
            <a:avLst/>
          </a:prstGeom>
          <a:solidFill>
            <a:srgbClr val="2D2D42"/>
          </a:solidFill>
          <a:ln w="6350">
            <a:solidFill>
              <a:srgbClr val="3A3A5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2468880" y="2167128"/>
            <a:ext cx="2148840" cy="548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06040" y="2350008"/>
            <a:ext cx="438912" cy="438912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3127248" y="2322576"/>
            <a:ext cx="1399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NextAuth v5</a:t>
            </a:r>
            <a:endParaRPr lang="en-US" sz="1150" dirty="0"/>
          </a:p>
        </p:txBody>
      </p:sp>
      <p:sp>
        <p:nvSpPr>
          <p:cNvPr id="34" name="Text 26"/>
          <p:cNvSpPr/>
          <p:nvPr/>
        </p:nvSpPr>
        <p:spPr>
          <a:xfrm>
            <a:off x="3127248" y="2679192"/>
            <a:ext cx="1399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RBAC 6 roles</a:t>
            </a:r>
            <a:endParaRPr lang="en-US" sz="950" dirty="0"/>
          </a:p>
        </p:txBody>
      </p:sp>
      <p:sp>
        <p:nvSpPr>
          <p:cNvPr id="35" name="Shape 27"/>
          <p:cNvSpPr/>
          <p:nvPr/>
        </p:nvSpPr>
        <p:spPr>
          <a:xfrm>
            <a:off x="4709160" y="2167128"/>
            <a:ext cx="2148840" cy="1097280"/>
          </a:xfrm>
          <a:prstGeom prst="rect">
            <a:avLst/>
          </a:prstGeom>
          <a:solidFill>
            <a:srgbClr val="2D2D42"/>
          </a:solidFill>
          <a:ln w="6350">
            <a:solidFill>
              <a:srgbClr val="3A3A5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6" name="Shape 28"/>
          <p:cNvSpPr/>
          <p:nvPr/>
        </p:nvSpPr>
        <p:spPr>
          <a:xfrm>
            <a:off x="4709160" y="2167128"/>
            <a:ext cx="2148840" cy="54864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pic>
        <p:nvPicPr>
          <p:cNvPr id="37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46320" y="2350008"/>
            <a:ext cx="438912" cy="438912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5367528" y="2322576"/>
            <a:ext cx="1399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Recharts 3.8</a:t>
            </a:r>
            <a:endParaRPr lang="en-US" sz="1150" dirty="0"/>
          </a:p>
        </p:txBody>
      </p:sp>
      <p:sp>
        <p:nvSpPr>
          <p:cNvPr id="39" name="Text 30"/>
          <p:cNvSpPr/>
          <p:nvPr/>
        </p:nvSpPr>
        <p:spPr>
          <a:xfrm>
            <a:off x="5367528" y="2679192"/>
            <a:ext cx="1399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Bar/Line/Pie/Area</a:t>
            </a:r>
            <a:endParaRPr lang="en-US" sz="950" dirty="0"/>
          </a:p>
        </p:txBody>
      </p:sp>
      <p:sp>
        <p:nvSpPr>
          <p:cNvPr id="40" name="Shape 31"/>
          <p:cNvSpPr/>
          <p:nvPr/>
        </p:nvSpPr>
        <p:spPr>
          <a:xfrm>
            <a:off x="6949440" y="2167128"/>
            <a:ext cx="2148840" cy="1097280"/>
          </a:xfrm>
          <a:prstGeom prst="rect">
            <a:avLst/>
          </a:prstGeom>
          <a:solidFill>
            <a:srgbClr val="2D2D42"/>
          </a:solidFill>
          <a:ln w="6350">
            <a:solidFill>
              <a:srgbClr val="3A3A5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1" name="Shape 32"/>
          <p:cNvSpPr/>
          <p:nvPr/>
        </p:nvSpPr>
        <p:spPr>
          <a:xfrm>
            <a:off x="6949440" y="2167128"/>
            <a:ext cx="2148840" cy="54864"/>
          </a:xfrm>
          <a:prstGeom prst="rect">
            <a:avLst/>
          </a:prstGeom>
          <a:solidFill>
            <a:srgbClr val="FC766A"/>
          </a:solidFill>
          <a:ln w="12700">
            <a:solidFill>
              <a:srgbClr val="FC766A"/>
            </a:solidFill>
            <a:prstDash val="solid"/>
          </a:ln>
        </p:spPr>
      </p:sp>
      <p:pic>
        <p:nvPicPr>
          <p:cNvPr id="4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86600" y="2350008"/>
            <a:ext cx="438912" cy="438912"/>
          </a:xfrm>
          <a:prstGeom prst="rect">
            <a:avLst/>
          </a:prstGeom>
        </p:spPr>
      </p:pic>
      <p:sp>
        <p:nvSpPr>
          <p:cNvPr id="43" name="Text 33"/>
          <p:cNvSpPr/>
          <p:nvPr/>
        </p:nvSpPr>
        <p:spPr>
          <a:xfrm>
            <a:off x="7607808" y="2322576"/>
            <a:ext cx="1399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React-PDF 4.3</a:t>
            </a:r>
            <a:endParaRPr lang="en-US" sz="1150" dirty="0"/>
          </a:p>
        </p:txBody>
      </p:sp>
      <p:sp>
        <p:nvSpPr>
          <p:cNvPr id="44" name="Text 34"/>
          <p:cNvSpPr/>
          <p:nvPr/>
        </p:nvSpPr>
        <p:spPr>
          <a:xfrm>
            <a:off x="7607808" y="2679192"/>
            <a:ext cx="1399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Phiếu lương PDF</a:t>
            </a:r>
            <a:endParaRPr lang="en-US" sz="950" dirty="0"/>
          </a:p>
        </p:txBody>
      </p:sp>
      <p:sp>
        <p:nvSpPr>
          <p:cNvPr id="45" name="Shape 35"/>
          <p:cNvSpPr/>
          <p:nvPr/>
        </p:nvSpPr>
        <p:spPr>
          <a:xfrm>
            <a:off x="228600" y="3374136"/>
            <a:ext cx="2148840" cy="1097280"/>
          </a:xfrm>
          <a:prstGeom prst="rect">
            <a:avLst/>
          </a:prstGeom>
          <a:solidFill>
            <a:srgbClr val="2D2D42"/>
          </a:solidFill>
          <a:ln w="6350">
            <a:solidFill>
              <a:srgbClr val="3A3A5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6" name="Shape 36"/>
          <p:cNvSpPr/>
          <p:nvPr/>
        </p:nvSpPr>
        <p:spPr>
          <a:xfrm>
            <a:off x="228600" y="3374136"/>
            <a:ext cx="2148840" cy="54864"/>
          </a:xfrm>
          <a:prstGeom prst="rect">
            <a:avLst/>
          </a:prstGeom>
          <a:solidFill>
            <a:srgbClr val="1D6F42"/>
          </a:solidFill>
          <a:ln w="12700">
            <a:solidFill>
              <a:srgbClr val="1D6F42"/>
            </a:solidFill>
            <a:prstDash val="solid"/>
          </a:ln>
        </p:spPr>
      </p:sp>
      <p:pic>
        <p:nvPicPr>
          <p:cNvPr id="47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65760" y="3557016"/>
            <a:ext cx="438912" cy="438912"/>
          </a:xfrm>
          <a:prstGeom prst="rect">
            <a:avLst/>
          </a:prstGeom>
        </p:spPr>
      </p:pic>
      <p:sp>
        <p:nvSpPr>
          <p:cNvPr id="48" name="Text 37"/>
          <p:cNvSpPr/>
          <p:nvPr/>
        </p:nvSpPr>
        <p:spPr>
          <a:xfrm>
            <a:off x="886968" y="3529584"/>
            <a:ext cx="1399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ExcelJS 4.4</a:t>
            </a:r>
            <a:endParaRPr lang="en-US" sz="1150" dirty="0"/>
          </a:p>
        </p:txBody>
      </p:sp>
      <p:sp>
        <p:nvSpPr>
          <p:cNvPr id="49" name="Text 38"/>
          <p:cNvSpPr/>
          <p:nvPr/>
        </p:nvSpPr>
        <p:spPr>
          <a:xfrm>
            <a:off x="886968" y="3886200"/>
            <a:ext cx="1399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Xuất báo cáo Excel</a:t>
            </a:r>
            <a:endParaRPr lang="en-US" sz="950" dirty="0"/>
          </a:p>
        </p:txBody>
      </p:sp>
      <p:sp>
        <p:nvSpPr>
          <p:cNvPr id="50" name="Shape 39"/>
          <p:cNvSpPr/>
          <p:nvPr/>
        </p:nvSpPr>
        <p:spPr>
          <a:xfrm>
            <a:off x="2468880" y="3374136"/>
            <a:ext cx="2148840" cy="1097280"/>
          </a:xfrm>
          <a:prstGeom prst="rect">
            <a:avLst/>
          </a:prstGeom>
          <a:solidFill>
            <a:srgbClr val="2D2D42"/>
          </a:solidFill>
          <a:ln w="6350">
            <a:solidFill>
              <a:srgbClr val="3A3A5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1" name="Shape 40"/>
          <p:cNvSpPr/>
          <p:nvPr/>
        </p:nvSpPr>
        <p:spPr>
          <a:xfrm>
            <a:off x="2468880" y="3374136"/>
            <a:ext cx="2148840" cy="54864"/>
          </a:xfrm>
          <a:prstGeom prst="rect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</p:sp>
      <p:pic>
        <p:nvPicPr>
          <p:cNvPr id="52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606040" y="3557016"/>
            <a:ext cx="438912" cy="438912"/>
          </a:xfrm>
          <a:prstGeom prst="rect">
            <a:avLst/>
          </a:prstGeom>
        </p:spPr>
      </p:pic>
      <p:sp>
        <p:nvSpPr>
          <p:cNvPr id="53" name="Text 41"/>
          <p:cNvSpPr/>
          <p:nvPr/>
        </p:nvSpPr>
        <p:spPr>
          <a:xfrm>
            <a:off x="3127248" y="3529584"/>
            <a:ext cx="1399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Nodemailer 8</a:t>
            </a:r>
            <a:endParaRPr lang="en-US" sz="1150" dirty="0"/>
          </a:p>
        </p:txBody>
      </p:sp>
      <p:sp>
        <p:nvSpPr>
          <p:cNvPr id="54" name="Text 42"/>
          <p:cNvSpPr/>
          <p:nvPr/>
        </p:nvSpPr>
        <p:spPr>
          <a:xfrm>
            <a:off x="3127248" y="3886200"/>
            <a:ext cx="1399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 SMTP</a:t>
            </a:r>
            <a:endParaRPr lang="en-US" sz="950" dirty="0"/>
          </a:p>
        </p:txBody>
      </p:sp>
      <p:sp>
        <p:nvSpPr>
          <p:cNvPr id="55" name="Shape 43"/>
          <p:cNvSpPr/>
          <p:nvPr/>
        </p:nvSpPr>
        <p:spPr>
          <a:xfrm>
            <a:off x="4709160" y="3374136"/>
            <a:ext cx="2148840" cy="1097280"/>
          </a:xfrm>
          <a:prstGeom prst="rect">
            <a:avLst/>
          </a:prstGeom>
          <a:solidFill>
            <a:srgbClr val="2D2D42"/>
          </a:solidFill>
          <a:ln w="6350">
            <a:solidFill>
              <a:srgbClr val="3A3A5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6" name="Shape 44"/>
          <p:cNvSpPr/>
          <p:nvPr/>
        </p:nvSpPr>
        <p:spPr>
          <a:xfrm>
            <a:off x="4709160" y="3374136"/>
            <a:ext cx="2148840" cy="54864"/>
          </a:xfrm>
          <a:prstGeom prst="rect">
            <a:avLst/>
          </a:prstGeom>
          <a:solidFill>
            <a:srgbClr val="3E67B1"/>
          </a:solidFill>
          <a:ln w="12700">
            <a:solidFill>
              <a:srgbClr val="3E67B1"/>
            </a:solidFill>
            <a:prstDash val="solid"/>
          </a:ln>
        </p:spPr>
      </p:sp>
      <p:pic>
        <p:nvPicPr>
          <p:cNvPr id="57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846320" y="3557016"/>
            <a:ext cx="438912" cy="438912"/>
          </a:xfrm>
          <a:prstGeom prst="rect">
            <a:avLst/>
          </a:prstGeom>
        </p:spPr>
      </p:pic>
      <p:sp>
        <p:nvSpPr>
          <p:cNvPr id="58" name="Text 45"/>
          <p:cNvSpPr/>
          <p:nvPr/>
        </p:nvSpPr>
        <p:spPr>
          <a:xfrm>
            <a:off x="5367528" y="3529584"/>
            <a:ext cx="1399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Zod 4.3</a:t>
            </a:r>
            <a:endParaRPr lang="en-US" sz="1150" dirty="0"/>
          </a:p>
        </p:txBody>
      </p:sp>
      <p:sp>
        <p:nvSpPr>
          <p:cNvPr id="59" name="Text 46"/>
          <p:cNvSpPr/>
          <p:nvPr/>
        </p:nvSpPr>
        <p:spPr>
          <a:xfrm>
            <a:off x="5367528" y="3886200"/>
            <a:ext cx="1399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validation</a:t>
            </a:r>
            <a:endParaRPr lang="en-US" sz="950" dirty="0"/>
          </a:p>
        </p:txBody>
      </p:sp>
      <p:sp>
        <p:nvSpPr>
          <p:cNvPr id="60" name="Shape 47"/>
          <p:cNvSpPr/>
          <p:nvPr/>
        </p:nvSpPr>
        <p:spPr>
          <a:xfrm>
            <a:off x="6949440" y="3374136"/>
            <a:ext cx="2148840" cy="1097280"/>
          </a:xfrm>
          <a:prstGeom prst="rect">
            <a:avLst/>
          </a:prstGeom>
          <a:solidFill>
            <a:srgbClr val="2D2D42"/>
          </a:solidFill>
          <a:ln w="6350">
            <a:solidFill>
              <a:srgbClr val="3A3A5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1" name="Shape 48"/>
          <p:cNvSpPr/>
          <p:nvPr/>
        </p:nvSpPr>
        <p:spPr>
          <a:xfrm>
            <a:off x="6949440" y="3374136"/>
            <a:ext cx="2148840" cy="54864"/>
          </a:xfrm>
          <a:prstGeom prst="rect">
            <a:avLst/>
          </a:prstGeom>
          <a:solidFill>
            <a:srgbClr val="2496ED"/>
          </a:solidFill>
          <a:ln w="12700">
            <a:solidFill>
              <a:srgbClr val="2496ED"/>
            </a:solidFill>
            <a:prstDash val="solid"/>
          </a:ln>
        </p:spPr>
      </p:sp>
      <p:pic>
        <p:nvPicPr>
          <p:cNvPr id="62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086600" y="3557016"/>
            <a:ext cx="438912" cy="438912"/>
          </a:xfrm>
          <a:prstGeom prst="rect">
            <a:avLst/>
          </a:prstGeom>
        </p:spPr>
      </p:pic>
      <p:sp>
        <p:nvSpPr>
          <p:cNvPr id="63" name="Text 49"/>
          <p:cNvSpPr/>
          <p:nvPr/>
        </p:nvSpPr>
        <p:spPr>
          <a:xfrm>
            <a:off x="7607808" y="3529584"/>
            <a:ext cx="1399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</a:t>
            </a:r>
            <a:endParaRPr lang="en-US" sz="1150" dirty="0"/>
          </a:p>
        </p:txBody>
      </p:sp>
      <p:sp>
        <p:nvSpPr>
          <p:cNvPr id="64" name="Text 50"/>
          <p:cNvSpPr/>
          <p:nvPr/>
        </p:nvSpPr>
        <p:spPr>
          <a:xfrm>
            <a:off x="7607808" y="3886200"/>
            <a:ext cx="1399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container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64008" cy="502920"/>
          </a:xfrm>
          <a:prstGeom prst="rect">
            <a:avLst/>
          </a:prstGeom>
          <a:solidFill>
            <a:srgbClr val="C41210"/>
          </a:solidFill>
          <a:ln w="12700">
            <a:solidFill>
              <a:srgbClr val="C4121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828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Kiến trúc hệ thống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8580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Mô hình 3 lớp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188720" y="960120"/>
            <a:ext cx="6766560" cy="1005840"/>
          </a:xfrm>
          <a:prstGeom prst="rect">
            <a:avLst/>
          </a:prstGeom>
          <a:solidFill>
            <a:srgbClr val="2D2D42"/>
          </a:solidFill>
          <a:ln w="6350">
            <a:solidFill>
              <a:srgbClr val="3A3A5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188720" y="960120"/>
            <a:ext cx="64008" cy="1005840"/>
          </a:xfrm>
          <a:prstGeom prst="rect">
            <a:avLst/>
          </a:prstGeom>
          <a:solidFill>
            <a:srgbClr val="C41210"/>
          </a:solidFill>
          <a:ln w="12700">
            <a:solidFill>
              <a:srgbClr val="C41210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320" y="123444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965960" y="105156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TẦNG 1 — GIAO DIỆN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965960" y="138074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i="1" dirty="0">
                <a:solidFill>
                  <a:srgbClr val="C412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Layer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3657600" y="1380744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trang React  ·  3 layout  ·  Responsive  ·  Dark Mode  ·  Song ngữ VI/EN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434840" y="2020824"/>
            <a:ext cx="274320" cy="237744"/>
          </a:xfrm>
          <a:prstGeom prst="rect">
            <a:avLst/>
          </a:prstGeom>
          <a:solidFill>
            <a:srgbClr val="C41210"/>
          </a:solidFill>
          <a:ln w="12700">
            <a:solidFill>
              <a:srgbClr val="C4121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343400" y="21122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41210"/>
                </a:solidFill>
              </a:rPr>
              <a:t>▼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1188720" y="2313432"/>
            <a:ext cx="6766560" cy="1005840"/>
          </a:xfrm>
          <a:prstGeom prst="rect">
            <a:avLst/>
          </a:prstGeom>
          <a:solidFill>
            <a:srgbClr val="2D2D42"/>
          </a:solidFill>
          <a:ln w="6350">
            <a:solidFill>
              <a:srgbClr val="3A3A5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1188720" y="2313432"/>
            <a:ext cx="64008" cy="1005840"/>
          </a:xfrm>
          <a:prstGeom prst="rect">
            <a:avLst/>
          </a:prstGeom>
          <a:solidFill>
            <a:srgbClr val="5A67D8"/>
          </a:solidFill>
          <a:ln w="12700">
            <a:solidFill>
              <a:srgbClr val="5A67D8"/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7320" y="2587752"/>
            <a:ext cx="411480" cy="41148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965960" y="2404872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TẦNG 2 — NGHIỆP VỤ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1965960" y="273405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i="1" dirty="0">
                <a:solidFill>
                  <a:srgbClr val="5A67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 Layer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3657600" y="2734056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service  ·  11 Server Actions  ·  5 Zod schema  ·  Payroll engine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4434840" y="3374136"/>
            <a:ext cx="274320" cy="237744"/>
          </a:xfrm>
          <a:prstGeom prst="rect">
            <a:avLst/>
          </a:prstGeom>
          <a:solidFill>
            <a:srgbClr val="C41210"/>
          </a:solidFill>
          <a:ln w="12700">
            <a:solidFill>
              <a:srgbClr val="C41210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4343400" y="34655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41210"/>
                </a:solidFill>
              </a:rPr>
              <a:t>▼</a:t>
            </a:r>
            <a:endParaRPr lang="en-US" sz="1600" dirty="0"/>
          </a:p>
        </p:txBody>
      </p:sp>
      <p:sp>
        <p:nvSpPr>
          <p:cNvPr id="21" name="Shape 17"/>
          <p:cNvSpPr/>
          <p:nvPr/>
        </p:nvSpPr>
        <p:spPr>
          <a:xfrm>
            <a:off x="1188720" y="3666744"/>
            <a:ext cx="6766560" cy="1005840"/>
          </a:xfrm>
          <a:prstGeom prst="rect">
            <a:avLst/>
          </a:prstGeom>
          <a:solidFill>
            <a:srgbClr val="2D2D42"/>
          </a:solidFill>
          <a:ln w="6350">
            <a:solidFill>
              <a:srgbClr val="3A3A5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1188720" y="3666744"/>
            <a:ext cx="64008" cy="1005840"/>
          </a:xfrm>
          <a:prstGeom prst="rect">
            <a:avLst/>
          </a:prstGeom>
          <a:solidFill>
            <a:srgbClr val="336791"/>
          </a:solidFill>
          <a:ln w="12700">
            <a:solidFill>
              <a:srgbClr val="336791"/>
            </a:solidFill>
            <a:prstDash val="solid"/>
          </a:ln>
        </p:spPr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17320" y="3941064"/>
            <a:ext cx="411480" cy="41148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1965960" y="3758184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TẦNG 3 — DỮ LIỆU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1965960" y="408736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i="1" dirty="0">
                <a:solidFill>
                  <a:srgbClr val="3367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Access Layer</a:t>
            </a:r>
            <a:endParaRPr lang="en-US" sz="900" dirty="0"/>
          </a:p>
        </p:txBody>
      </p:sp>
      <p:sp>
        <p:nvSpPr>
          <p:cNvPr id="26" name="Text 21"/>
          <p:cNvSpPr/>
          <p:nvPr/>
        </p:nvSpPr>
        <p:spPr>
          <a:xfrm>
            <a:off x="3657600" y="408736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 ORM → PostgreSQL 17  ·  13 bảng  ·  $transaction()  ·  Migration</a:t>
            </a:r>
            <a:endParaRPr lang="en-US" sz="1000" dirty="0"/>
          </a:p>
        </p:txBody>
      </p:sp>
      <p:sp>
        <p:nvSpPr>
          <p:cNvPr id="27" name="Text 22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App Router  ·  TypeScript  ·  Tailwind CSS  ·  Docker  ·  PostgreSQL  ·  Prisma  ·  Zod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64008" cy="502920"/>
          </a:xfrm>
          <a:prstGeom prst="rect">
            <a:avLst/>
          </a:prstGeom>
          <a:solidFill>
            <a:srgbClr val="C41210"/>
          </a:solidFill>
          <a:ln w="12700">
            <a:solidFill>
              <a:srgbClr val="C4121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828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— 13 bảng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8580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 ORM · PostgreSQL 17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4206240" cy="457200"/>
          </a:xfrm>
          <a:prstGeom prst="rect">
            <a:avLst/>
          </a:prstGeom>
          <a:solidFill>
            <a:srgbClr val="2D2D42"/>
          </a:solidFill>
          <a:ln w="6350">
            <a:solidFill>
              <a:srgbClr val="3A3A5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914400"/>
            <a:ext cx="54864" cy="457200"/>
          </a:xfrm>
          <a:prstGeom prst="rect">
            <a:avLst/>
          </a:prstGeom>
          <a:solidFill>
            <a:srgbClr val="C41210"/>
          </a:solidFill>
          <a:ln w="12700">
            <a:solidFill>
              <a:srgbClr val="C4121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9144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departments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880360" y="91440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Phòng ban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0040" y="1403604"/>
            <a:ext cx="4206240" cy="457200"/>
          </a:xfrm>
          <a:prstGeom prst="rect">
            <a:avLst/>
          </a:prstGeom>
          <a:solidFill>
            <a:srgbClr val="2D2D42"/>
          </a:solidFill>
          <a:ln w="6350">
            <a:solidFill>
              <a:srgbClr val="3A3A5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403604"/>
            <a:ext cx="54864" cy="457200"/>
          </a:xfrm>
          <a:prstGeom prst="rect">
            <a:avLst/>
          </a:prstGeom>
          <a:solidFill>
            <a:srgbClr val="C41210"/>
          </a:solidFill>
          <a:ln w="12700">
            <a:solidFill>
              <a:srgbClr val="C4121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40360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positions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880360" y="1403604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Chức vụ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0040" y="1892808"/>
            <a:ext cx="4206240" cy="457200"/>
          </a:xfrm>
          <a:prstGeom prst="rect">
            <a:avLst/>
          </a:prstGeom>
          <a:solidFill>
            <a:srgbClr val="2D2D42"/>
          </a:solidFill>
          <a:ln w="6350">
            <a:solidFill>
              <a:srgbClr val="3A3A5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1892808"/>
            <a:ext cx="54864" cy="457200"/>
          </a:xfrm>
          <a:prstGeom prst="rect">
            <a:avLst/>
          </a:prstGeom>
          <a:solidFill>
            <a:srgbClr val="C41210"/>
          </a:solidFill>
          <a:ln w="12700">
            <a:solidFill>
              <a:srgbClr val="C4121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189280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employees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880360" y="1892808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Nhân viên (63)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0040" y="2382012"/>
            <a:ext cx="4206240" cy="457200"/>
          </a:xfrm>
          <a:prstGeom prst="rect">
            <a:avLst/>
          </a:prstGeom>
          <a:solidFill>
            <a:srgbClr val="2D2D42"/>
          </a:solidFill>
          <a:ln w="6350">
            <a:solidFill>
              <a:srgbClr val="3A3A5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2382012"/>
            <a:ext cx="54864" cy="457200"/>
          </a:xfrm>
          <a:prstGeom prst="rect">
            <a:avLst/>
          </a:prstGeom>
          <a:solidFill>
            <a:srgbClr val="C41210"/>
          </a:solidFill>
          <a:ln w="12700">
            <a:solidFill>
              <a:srgbClr val="C4121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238201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880360" y="2382012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Tài khoản (64)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20040" y="2871216"/>
            <a:ext cx="4206240" cy="457200"/>
          </a:xfrm>
          <a:prstGeom prst="rect">
            <a:avLst/>
          </a:prstGeom>
          <a:solidFill>
            <a:srgbClr val="2D2D42"/>
          </a:solidFill>
          <a:ln w="6350">
            <a:solidFill>
              <a:srgbClr val="3A3A5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2871216"/>
            <a:ext cx="54864" cy="457200"/>
          </a:xfrm>
          <a:prstGeom prst="rect">
            <a:avLst/>
          </a:prstGeom>
          <a:solidFill>
            <a:srgbClr val="C41210"/>
          </a:solidFill>
          <a:ln w="12700">
            <a:solidFill>
              <a:srgbClr val="C4121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287121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contracts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880360" y="2871216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Hợp đồng LĐ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20040" y="3360420"/>
            <a:ext cx="4206240" cy="457200"/>
          </a:xfrm>
          <a:prstGeom prst="rect">
            <a:avLst/>
          </a:prstGeom>
          <a:solidFill>
            <a:srgbClr val="2D2D42"/>
          </a:solidFill>
          <a:ln w="6350">
            <a:solidFill>
              <a:srgbClr val="3A3A5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" y="3360420"/>
            <a:ext cx="54864" cy="457200"/>
          </a:xfrm>
          <a:prstGeom prst="rect">
            <a:avLst/>
          </a:prstGeom>
          <a:solidFill>
            <a:srgbClr val="C41210"/>
          </a:solidFill>
          <a:ln w="12700">
            <a:solidFill>
              <a:srgbClr val="C4121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33604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attendance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880360" y="336042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Chấm công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20040" y="3849624"/>
            <a:ext cx="4206240" cy="457200"/>
          </a:xfrm>
          <a:prstGeom prst="rect">
            <a:avLst/>
          </a:prstGeom>
          <a:solidFill>
            <a:srgbClr val="2D2D42"/>
          </a:solidFill>
          <a:ln w="6350">
            <a:solidFill>
              <a:srgbClr val="3A3A5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0040" y="3849624"/>
            <a:ext cx="54864" cy="457200"/>
          </a:xfrm>
          <a:prstGeom prst="rect">
            <a:avLst/>
          </a:prstGeom>
          <a:solidFill>
            <a:srgbClr val="C41210"/>
          </a:solidFill>
          <a:ln w="12700">
            <a:solidFill>
              <a:srgbClr val="C4121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384962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salary_config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880360" y="3849624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Cấu hình lương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754880" y="914400"/>
            <a:ext cx="4206240" cy="457200"/>
          </a:xfrm>
          <a:prstGeom prst="rect">
            <a:avLst/>
          </a:prstGeom>
          <a:solidFill>
            <a:srgbClr val="2D2D42"/>
          </a:solidFill>
          <a:ln w="6350">
            <a:solidFill>
              <a:srgbClr val="3A3A5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754880" y="914400"/>
            <a:ext cx="54864" cy="457200"/>
          </a:xfrm>
          <a:prstGeom prst="rect">
            <a:avLst/>
          </a:prstGeom>
          <a:solidFill>
            <a:srgbClr val="C41210"/>
          </a:solidFill>
          <a:ln w="12700">
            <a:solidFill>
              <a:srgbClr val="C4121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37760" y="9144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leave_requests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315200" y="91440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Đơn nghỉ phép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754880" y="1403604"/>
            <a:ext cx="4206240" cy="457200"/>
          </a:xfrm>
          <a:prstGeom prst="rect">
            <a:avLst/>
          </a:prstGeom>
          <a:solidFill>
            <a:srgbClr val="2D2D42"/>
          </a:solidFill>
          <a:ln w="6350">
            <a:solidFill>
              <a:srgbClr val="3A3A5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754880" y="1403604"/>
            <a:ext cx="54864" cy="457200"/>
          </a:xfrm>
          <a:prstGeom prst="rect">
            <a:avLst/>
          </a:prstGeom>
          <a:solidFill>
            <a:srgbClr val="C41210"/>
          </a:solidFill>
          <a:ln w="12700">
            <a:solidFill>
              <a:srgbClr val="C4121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37760" y="140360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leave_balance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315200" y="1403604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Quỹ phép năm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754880" y="1892808"/>
            <a:ext cx="4206240" cy="457200"/>
          </a:xfrm>
          <a:prstGeom prst="rect">
            <a:avLst/>
          </a:prstGeom>
          <a:solidFill>
            <a:srgbClr val="2D2D42"/>
          </a:solidFill>
          <a:ln w="6350">
            <a:solidFill>
              <a:srgbClr val="3A3A5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754880" y="1892808"/>
            <a:ext cx="54864" cy="457200"/>
          </a:xfrm>
          <a:prstGeom prst="rect">
            <a:avLst/>
          </a:prstGeom>
          <a:solidFill>
            <a:srgbClr val="C41210"/>
          </a:solidFill>
          <a:ln w="12700">
            <a:solidFill>
              <a:srgbClr val="C4121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37760" y="189280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payroll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7315200" y="1892808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Bảng lương tháng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4754880" y="2382012"/>
            <a:ext cx="4206240" cy="457200"/>
          </a:xfrm>
          <a:prstGeom prst="rect">
            <a:avLst/>
          </a:prstGeom>
          <a:solidFill>
            <a:srgbClr val="2D2D42"/>
          </a:solidFill>
          <a:ln w="6350">
            <a:solidFill>
              <a:srgbClr val="3A3A5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754880" y="2382012"/>
            <a:ext cx="54864" cy="457200"/>
          </a:xfrm>
          <a:prstGeom prst="rect">
            <a:avLst/>
          </a:prstGeom>
          <a:solidFill>
            <a:srgbClr val="C41210"/>
          </a:solidFill>
          <a:ln w="12700">
            <a:solidFill>
              <a:srgbClr val="C4121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937760" y="238201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payslips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7315200" y="2382012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Phiếu lương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4754880" y="2871216"/>
            <a:ext cx="4206240" cy="457200"/>
          </a:xfrm>
          <a:prstGeom prst="rect">
            <a:avLst/>
          </a:prstGeom>
          <a:solidFill>
            <a:srgbClr val="2D2D42"/>
          </a:solidFill>
          <a:ln w="6350">
            <a:solidFill>
              <a:srgbClr val="3A3A5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4754880" y="2871216"/>
            <a:ext cx="54864" cy="457200"/>
          </a:xfrm>
          <a:prstGeom prst="rect">
            <a:avLst/>
          </a:prstGeom>
          <a:solidFill>
            <a:srgbClr val="C41210"/>
          </a:solidFill>
          <a:ln w="12700">
            <a:solidFill>
              <a:srgbClr val="C4121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937760" y="287121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career_history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7315200" y="2871216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Lịch sử công tác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4754880" y="3360420"/>
            <a:ext cx="4206240" cy="457200"/>
          </a:xfrm>
          <a:prstGeom prst="rect">
            <a:avLst/>
          </a:prstGeom>
          <a:solidFill>
            <a:srgbClr val="2D2D42"/>
          </a:solidFill>
          <a:ln w="6350">
            <a:solidFill>
              <a:srgbClr val="3A3A5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4754880" y="3360420"/>
            <a:ext cx="54864" cy="457200"/>
          </a:xfrm>
          <a:prstGeom prst="rect">
            <a:avLst/>
          </a:prstGeom>
          <a:solidFill>
            <a:srgbClr val="C41210"/>
          </a:solidFill>
          <a:ln w="12700">
            <a:solidFill>
              <a:srgbClr val="C4121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937760" y="33604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business_trips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7315200" y="336042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Công tác phí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320040" y="4590288"/>
            <a:ext cx="8503920" cy="384048"/>
          </a:xfrm>
          <a:prstGeom prst="rect">
            <a:avLst/>
          </a:prstGeom>
          <a:solidFill>
            <a:srgbClr val="2D2D42"/>
          </a:solidFill>
          <a:ln w="12700">
            <a:solidFill>
              <a:srgbClr val="3A3A55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20040" y="4590288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 ORM 7  ·  Type-safe  ·  Auto-migration  ·  $transaction() cho toàn vẹn dữ liệu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64008" cy="502920"/>
          </a:xfrm>
          <a:prstGeom prst="rect">
            <a:avLst/>
          </a:prstGeom>
          <a:solidFill>
            <a:srgbClr val="C41210"/>
          </a:solidFill>
          <a:ln w="12700">
            <a:solidFill>
              <a:srgbClr val="C4121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828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— 6 Actor × 4 phân hệ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8580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 trận phân quyền tổng quan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1371600" cy="457200"/>
          </a:xfrm>
          <a:prstGeom prst="rect">
            <a:avLst/>
          </a:prstGeom>
          <a:solidFill>
            <a:srgbClr val="C4121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9144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691640" y="914400"/>
            <a:ext cx="1645920" cy="457200"/>
          </a:xfrm>
          <a:prstGeom prst="rect">
            <a:avLst/>
          </a:prstGeom>
          <a:solidFill>
            <a:srgbClr val="C4121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91640" y="9144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Hồ sơ NV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37560" y="914400"/>
            <a:ext cx="1828800" cy="457200"/>
          </a:xfrm>
          <a:prstGeom prst="rect">
            <a:avLst/>
          </a:prstGeom>
          <a:solidFill>
            <a:srgbClr val="C4121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37560" y="9144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Chấm công &amp; Phép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166360" y="914400"/>
            <a:ext cx="1554480" cy="457200"/>
          </a:xfrm>
          <a:prstGeom prst="rect">
            <a:avLst/>
          </a:prstGeom>
          <a:solidFill>
            <a:srgbClr val="C4121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66360" y="9144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Tiền lương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720840" y="914400"/>
            <a:ext cx="1828800" cy="457200"/>
          </a:xfrm>
          <a:prstGeom prst="rect">
            <a:avLst/>
          </a:prstGeom>
          <a:solidFill>
            <a:srgbClr val="C4121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20840" y="9144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Báo cáo &amp; QT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" y="1371600"/>
            <a:ext cx="1371600" cy="566928"/>
          </a:xfrm>
          <a:prstGeom prst="rect">
            <a:avLst/>
          </a:prstGeom>
          <a:solidFill>
            <a:srgbClr val="2A2A40"/>
          </a:solidFill>
          <a:ln w="6350">
            <a:solidFill>
              <a:srgbClr val="3A3A5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" y="1371600"/>
            <a:ext cx="45720" cy="566928"/>
          </a:xfrm>
          <a:prstGeom prst="rect">
            <a:avLst/>
          </a:prstGeom>
          <a:solidFill>
            <a:srgbClr val="C41210"/>
          </a:solidFill>
          <a:ln w="12700">
            <a:solidFill>
              <a:srgbClr val="C4121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1371600"/>
            <a:ext cx="1325880" cy="56692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1691640" y="1371600"/>
            <a:ext cx="1645920" cy="566928"/>
          </a:xfrm>
          <a:prstGeom prst="rect">
            <a:avLst/>
          </a:prstGeom>
          <a:solidFill>
            <a:srgbClr val="2D2D42"/>
          </a:solidFill>
          <a:ln w="6350">
            <a:solidFill>
              <a:srgbClr val="3A3A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737360" y="1371600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full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337560" y="1371600"/>
            <a:ext cx="1828800" cy="566928"/>
          </a:xfrm>
          <a:prstGeom prst="rect">
            <a:avLst/>
          </a:prstGeom>
          <a:solidFill>
            <a:srgbClr val="2D2D42"/>
          </a:solidFill>
          <a:ln w="6350">
            <a:solidFill>
              <a:srgbClr val="3A3A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83280" y="1371600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Xem tất cả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166360" y="1371600"/>
            <a:ext cx="1554480" cy="566928"/>
          </a:xfrm>
          <a:prstGeom prst="rect">
            <a:avLst/>
          </a:prstGeom>
          <a:solidFill>
            <a:srgbClr val="2D2D42"/>
          </a:solidFill>
          <a:ln w="6350">
            <a:solidFill>
              <a:srgbClr val="3A3A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12080" y="1371600"/>
            <a:ext cx="1508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720840" y="1371600"/>
            <a:ext cx="1828800" cy="566928"/>
          </a:xfrm>
          <a:prstGeom prst="rect">
            <a:avLst/>
          </a:prstGeom>
          <a:solidFill>
            <a:srgbClr val="2D2D42"/>
          </a:solidFill>
          <a:ln w="6350">
            <a:solidFill>
              <a:srgbClr val="3A3A5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66560" y="1371600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+ User mgmt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20040" y="1938528"/>
            <a:ext cx="1371600" cy="566928"/>
          </a:xfrm>
          <a:prstGeom prst="rect">
            <a:avLst/>
          </a:prstGeom>
          <a:solidFill>
            <a:srgbClr val="2A2A40"/>
          </a:solidFill>
          <a:ln w="6350">
            <a:solidFill>
              <a:srgbClr val="3A3A5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0040" y="1938528"/>
            <a:ext cx="45720" cy="566928"/>
          </a:xfrm>
          <a:prstGeom prst="rect">
            <a:avLst/>
          </a:prstGeom>
          <a:solidFill>
            <a:srgbClr val="C41210"/>
          </a:solidFill>
          <a:ln w="12700">
            <a:solidFill>
              <a:srgbClr val="C4121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1938528"/>
            <a:ext cx="1325880" cy="56692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1691640" y="1938528"/>
            <a:ext cx="1645920" cy="566928"/>
          </a:xfrm>
          <a:prstGeom prst="rect">
            <a:avLst/>
          </a:prstGeom>
          <a:solidFill>
            <a:srgbClr val="252535"/>
          </a:solidFill>
          <a:ln w="6350">
            <a:solidFill>
              <a:srgbClr val="3A3A5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737360" y="1938528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Xem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337560" y="1938528"/>
            <a:ext cx="1828800" cy="566928"/>
          </a:xfrm>
          <a:prstGeom prst="rect">
            <a:avLst/>
          </a:prstGeom>
          <a:solidFill>
            <a:srgbClr val="252535"/>
          </a:solidFill>
          <a:ln w="6350">
            <a:solidFill>
              <a:srgbClr val="3A3A5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83280" y="1938528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5166360" y="1938528"/>
            <a:ext cx="1554480" cy="566928"/>
          </a:xfrm>
          <a:prstGeom prst="rect">
            <a:avLst/>
          </a:prstGeom>
          <a:solidFill>
            <a:srgbClr val="252535"/>
          </a:solidFill>
          <a:ln w="6350">
            <a:solidFill>
              <a:srgbClr val="3A3A5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212080" y="1938528"/>
            <a:ext cx="1508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Xem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720840" y="1938528"/>
            <a:ext cx="1828800" cy="566928"/>
          </a:xfrm>
          <a:prstGeom prst="rect">
            <a:avLst/>
          </a:prstGeom>
          <a:solidFill>
            <a:srgbClr val="252535"/>
          </a:solidFill>
          <a:ln w="6350">
            <a:solidFill>
              <a:srgbClr val="3A3A5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766560" y="1938528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+ Excel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320040" y="2505456"/>
            <a:ext cx="1371600" cy="566928"/>
          </a:xfrm>
          <a:prstGeom prst="rect">
            <a:avLst/>
          </a:prstGeom>
          <a:solidFill>
            <a:srgbClr val="2A2A40"/>
          </a:solidFill>
          <a:ln w="6350">
            <a:solidFill>
              <a:srgbClr val="3A3A5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" y="2505456"/>
            <a:ext cx="45720" cy="566928"/>
          </a:xfrm>
          <a:prstGeom prst="rect">
            <a:avLst/>
          </a:prstGeom>
          <a:solidFill>
            <a:srgbClr val="C41210"/>
          </a:solidFill>
          <a:ln w="12700">
            <a:solidFill>
              <a:srgbClr val="C4121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2505456"/>
            <a:ext cx="1325880" cy="56692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Manager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1691640" y="2505456"/>
            <a:ext cx="1645920" cy="566928"/>
          </a:xfrm>
          <a:prstGeom prst="rect">
            <a:avLst/>
          </a:prstGeom>
          <a:solidFill>
            <a:srgbClr val="2D2D42"/>
          </a:solidFill>
          <a:ln w="6350">
            <a:solidFill>
              <a:srgbClr val="3A3A5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737360" y="2505456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full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3337560" y="2505456"/>
            <a:ext cx="1828800" cy="566928"/>
          </a:xfrm>
          <a:prstGeom prst="rect">
            <a:avLst/>
          </a:prstGeom>
          <a:solidFill>
            <a:srgbClr val="2D2D42"/>
          </a:solidFill>
          <a:ln w="6350">
            <a:solidFill>
              <a:srgbClr val="3A3A5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383280" y="2505456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Duyệt tất cả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5166360" y="2505456"/>
            <a:ext cx="1554480" cy="566928"/>
          </a:xfrm>
          <a:prstGeom prst="rect">
            <a:avLst/>
          </a:prstGeom>
          <a:solidFill>
            <a:srgbClr val="2D2D42"/>
          </a:solidFill>
          <a:ln w="6350">
            <a:solidFill>
              <a:srgbClr val="3A3A5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212080" y="2505456"/>
            <a:ext cx="1508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Xem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6720840" y="2505456"/>
            <a:ext cx="1828800" cy="566928"/>
          </a:xfrm>
          <a:prstGeom prst="rect">
            <a:avLst/>
          </a:prstGeom>
          <a:solidFill>
            <a:srgbClr val="2D2D42"/>
          </a:solidFill>
          <a:ln w="6350">
            <a:solidFill>
              <a:srgbClr val="3A3A5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766560" y="2505456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Dashboard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320040" y="3072384"/>
            <a:ext cx="1371600" cy="566928"/>
          </a:xfrm>
          <a:prstGeom prst="rect">
            <a:avLst/>
          </a:prstGeom>
          <a:solidFill>
            <a:srgbClr val="2A2A40"/>
          </a:solidFill>
          <a:ln w="6350">
            <a:solidFill>
              <a:srgbClr val="3A3A55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20040" y="3072384"/>
            <a:ext cx="45720" cy="566928"/>
          </a:xfrm>
          <a:prstGeom prst="rect">
            <a:avLst/>
          </a:prstGeom>
          <a:solidFill>
            <a:srgbClr val="C41210"/>
          </a:solidFill>
          <a:ln w="12700">
            <a:solidFill>
              <a:srgbClr val="C4121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65760" y="3072384"/>
            <a:ext cx="1325880" cy="56692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Accountant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1691640" y="3072384"/>
            <a:ext cx="1645920" cy="566928"/>
          </a:xfrm>
          <a:prstGeom prst="rect">
            <a:avLst/>
          </a:prstGeom>
          <a:solidFill>
            <a:srgbClr val="252535"/>
          </a:solidFill>
          <a:ln w="6350">
            <a:solidFill>
              <a:srgbClr val="3A3A5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737360" y="3072384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Xem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3337560" y="3072384"/>
            <a:ext cx="1828800" cy="566928"/>
          </a:xfrm>
          <a:prstGeom prst="rect">
            <a:avLst/>
          </a:prstGeom>
          <a:solidFill>
            <a:srgbClr val="252535"/>
          </a:solidFill>
          <a:ln w="6350">
            <a:solidFill>
              <a:srgbClr val="3A3A55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383280" y="3072384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55" name="Shape 53"/>
          <p:cNvSpPr/>
          <p:nvPr/>
        </p:nvSpPr>
        <p:spPr>
          <a:xfrm>
            <a:off x="5166360" y="3072384"/>
            <a:ext cx="1554480" cy="566928"/>
          </a:xfrm>
          <a:prstGeom prst="rect">
            <a:avLst/>
          </a:prstGeom>
          <a:solidFill>
            <a:srgbClr val="252535"/>
          </a:solidFill>
          <a:ln w="6350">
            <a:solidFill>
              <a:srgbClr val="3A3A55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212080" y="3072384"/>
            <a:ext cx="1508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Tính lương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6720840" y="3072384"/>
            <a:ext cx="1828800" cy="566928"/>
          </a:xfrm>
          <a:prstGeom prst="rect">
            <a:avLst/>
          </a:prstGeom>
          <a:solidFill>
            <a:srgbClr val="252535"/>
          </a:solidFill>
          <a:ln w="6350">
            <a:solidFill>
              <a:srgbClr val="3A3A55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766560" y="3072384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tài chính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320040" y="3639312"/>
            <a:ext cx="1371600" cy="566928"/>
          </a:xfrm>
          <a:prstGeom prst="rect">
            <a:avLst/>
          </a:prstGeom>
          <a:solidFill>
            <a:srgbClr val="2A2A40"/>
          </a:solidFill>
          <a:ln w="6350">
            <a:solidFill>
              <a:srgbClr val="3A3A55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320040" y="3639312"/>
            <a:ext cx="45720" cy="566928"/>
          </a:xfrm>
          <a:prstGeom prst="rect">
            <a:avLst/>
          </a:prstGeom>
          <a:solidFill>
            <a:srgbClr val="C41210"/>
          </a:solidFill>
          <a:ln w="12700">
            <a:solidFill>
              <a:srgbClr val="C4121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65760" y="3639312"/>
            <a:ext cx="1325880" cy="56692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1691640" y="3639312"/>
            <a:ext cx="1645920" cy="566928"/>
          </a:xfrm>
          <a:prstGeom prst="rect">
            <a:avLst/>
          </a:prstGeom>
          <a:solidFill>
            <a:srgbClr val="2D2D42"/>
          </a:solidFill>
          <a:ln w="6350">
            <a:solidFill>
              <a:srgbClr val="3A3A55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737360" y="3639312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64" name="Shape 62"/>
          <p:cNvSpPr/>
          <p:nvPr/>
        </p:nvSpPr>
        <p:spPr>
          <a:xfrm>
            <a:off x="3337560" y="3639312"/>
            <a:ext cx="1828800" cy="566928"/>
          </a:xfrm>
          <a:prstGeom prst="rect">
            <a:avLst/>
          </a:prstGeom>
          <a:solidFill>
            <a:srgbClr val="2D2D42"/>
          </a:solidFill>
          <a:ln w="6350">
            <a:solidFill>
              <a:srgbClr val="3A3A55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383280" y="3639312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Duyệt phòng</a:t>
            </a:r>
            <a:endParaRPr lang="en-US" sz="1050" dirty="0"/>
          </a:p>
        </p:txBody>
      </p:sp>
      <p:sp>
        <p:nvSpPr>
          <p:cNvPr id="66" name="Shape 64"/>
          <p:cNvSpPr/>
          <p:nvPr/>
        </p:nvSpPr>
        <p:spPr>
          <a:xfrm>
            <a:off x="5166360" y="3639312"/>
            <a:ext cx="1554480" cy="566928"/>
          </a:xfrm>
          <a:prstGeom prst="rect">
            <a:avLst/>
          </a:prstGeom>
          <a:solidFill>
            <a:srgbClr val="2D2D42"/>
          </a:solidFill>
          <a:ln w="6350">
            <a:solidFill>
              <a:srgbClr val="3A3A55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212080" y="3639312"/>
            <a:ext cx="1508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Xem phòng</a:t>
            </a:r>
            <a:endParaRPr lang="en-US" sz="1050" dirty="0"/>
          </a:p>
        </p:txBody>
      </p:sp>
      <p:sp>
        <p:nvSpPr>
          <p:cNvPr id="68" name="Shape 66"/>
          <p:cNvSpPr/>
          <p:nvPr/>
        </p:nvSpPr>
        <p:spPr>
          <a:xfrm>
            <a:off x="6720840" y="3639312"/>
            <a:ext cx="1828800" cy="566928"/>
          </a:xfrm>
          <a:prstGeom prst="rect">
            <a:avLst/>
          </a:prstGeom>
          <a:solidFill>
            <a:srgbClr val="2D2D42"/>
          </a:solidFill>
          <a:ln w="6350">
            <a:solidFill>
              <a:srgbClr val="3A3A55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766560" y="3639312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Dashboard</a:t>
            </a:r>
            <a:endParaRPr lang="en-US" sz="1050" dirty="0"/>
          </a:p>
        </p:txBody>
      </p:sp>
      <p:sp>
        <p:nvSpPr>
          <p:cNvPr id="70" name="Shape 68"/>
          <p:cNvSpPr/>
          <p:nvPr/>
        </p:nvSpPr>
        <p:spPr>
          <a:xfrm>
            <a:off x="320040" y="4206240"/>
            <a:ext cx="1371600" cy="566928"/>
          </a:xfrm>
          <a:prstGeom prst="rect">
            <a:avLst/>
          </a:prstGeom>
          <a:solidFill>
            <a:srgbClr val="2A2A40"/>
          </a:solidFill>
          <a:ln w="6350">
            <a:solidFill>
              <a:srgbClr val="3A3A55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320040" y="4206240"/>
            <a:ext cx="45720" cy="566928"/>
          </a:xfrm>
          <a:prstGeom prst="rect">
            <a:avLst/>
          </a:prstGeom>
          <a:solidFill>
            <a:srgbClr val="C41210"/>
          </a:solidFill>
          <a:ln w="12700">
            <a:solidFill>
              <a:srgbClr val="C4121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365760" y="4206240"/>
            <a:ext cx="1325880" cy="56692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</a:t>
            </a:r>
            <a:endParaRPr lang="en-US" sz="1050" dirty="0"/>
          </a:p>
        </p:txBody>
      </p:sp>
      <p:sp>
        <p:nvSpPr>
          <p:cNvPr id="73" name="Shape 71"/>
          <p:cNvSpPr/>
          <p:nvPr/>
        </p:nvSpPr>
        <p:spPr>
          <a:xfrm>
            <a:off x="1691640" y="4206240"/>
            <a:ext cx="1645920" cy="566928"/>
          </a:xfrm>
          <a:prstGeom prst="rect">
            <a:avLst/>
          </a:prstGeom>
          <a:solidFill>
            <a:srgbClr val="252535"/>
          </a:solidFill>
          <a:ln w="6350">
            <a:solidFill>
              <a:srgbClr val="3A3A55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1737360" y="4206240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Xem mình</a:t>
            </a:r>
            <a:endParaRPr lang="en-US" sz="1050" dirty="0"/>
          </a:p>
        </p:txBody>
      </p:sp>
      <p:sp>
        <p:nvSpPr>
          <p:cNvPr id="75" name="Shape 73"/>
          <p:cNvSpPr/>
          <p:nvPr/>
        </p:nvSpPr>
        <p:spPr>
          <a:xfrm>
            <a:off x="3337560" y="4206240"/>
            <a:ext cx="1828800" cy="566928"/>
          </a:xfrm>
          <a:prstGeom prst="rect">
            <a:avLst/>
          </a:prstGeom>
          <a:solidFill>
            <a:srgbClr val="252535"/>
          </a:solidFill>
          <a:ln w="6350">
            <a:solidFill>
              <a:srgbClr val="3A3A55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3383280" y="4206240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Check-in + Đơn</a:t>
            </a:r>
            <a:endParaRPr lang="en-US" sz="1050" dirty="0"/>
          </a:p>
        </p:txBody>
      </p:sp>
      <p:sp>
        <p:nvSpPr>
          <p:cNvPr id="77" name="Shape 75"/>
          <p:cNvSpPr/>
          <p:nvPr/>
        </p:nvSpPr>
        <p:spPr>
          <a:xfrm>
            <a:off x="5166360" y="4206240"/>
            <a:ext cx="1554480" cy="566928"/>
          </a:xfrm>
          <a:prstGeom prst="rect">
            <a:avLst/>
          </a:prstGeom>
          <a:solidFill>
            <a:srgbClr val="252535"/>
          </a:solidFill>
          <a:ln w="6350">
            <a:solidFill>
              <a:srgbClr val="3A3A55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5212080" y="4206240"/>
            <a:ext cx="1508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Phiếu mình</a:t>
            </a:r>
            <a:endParaRPr lang="en-US" sz="1050" dirty="0"/>
          </a:p>
        </p:txBody>
      </p:sp>
      <p:sp>
        <p:nvSpPr>
          <p:cNvPr id="79" name="Shape 77"/>
          <p:cNvSpPr/>
          <p:nvPr/>
        </p:nvSpPr>
        <p:spPr>
          <a:xfrm>
            <a:off x="6720840" y="4206240"/>
            <a:ext cx="1828800" cy="566928"/>
          </a:xfrm>
          <a:prstGeom prst="rect">
            <a:avLst/>
          </a:prstGeom>
          <a:solidFill>
            <a:srgbClr val="252535"/>
          </a:solidFill>
          <a:ln w="6350">
            <a:solidFill>
              <a:srgbClr val="3A3A55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6766560" y="4206240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 nhân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64008" cy="502920"/>
          </a:xfrm>
          <a:prstGeom prst="rect">
            <a:avLst/>
          </a:prstGeom>
          <a:solidFill>
            <a:srgbClr val="C41210"/>
          </a:solidFill>
          <a:ln w="12700">
            <a:solidFill>
              <a:srgbClr val="C4121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828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quyền RBAC — 6 vai trò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8580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Bảo vệ bằng Next.js Edge Middleware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1828800" cy="411480"/>
          </a:xfrm>
          <a:prstGeom prst="rect">
            <a:avLst/>
          </a:prstGeom>
          <a:solidFill>
            <a:srgbClr val="2A2A40"/>
          </a:solidFill>
          <a:ln w="12700">
            <a:solidFill>
              <a:srgbClr val="3A3A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144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Chức năng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103120" y="914400"/>
            <a:ext cx="1170432" cy="411480"/>
          </a:xfrm>
          <a:prstGeom prst="rect">
            <a:avLst/>
          </a:prstGeom>
          <a:solidFill>
            <a:srgbClr val="C41210"/>
          </a:solidFill>
          <a:ln w="12700">
            <a:solidFill>
              <a:srgbClr val="3A3A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103120" y="914400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73552" y="914400"/>
            <a:ext cx="1170432" cy="411480"/>
          </a:xfrm>
          <a:prstGeom prst="rect">
            <a:avLst/>
          </a:prstGeom>
          <a:solidFill>
            <a:srgbClr val="C41210"/>
          </a:solidFill>
          <a:ln w="12700">
            <a:solidFill>
              <a:srgbClr val="3A3A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73552" y="914400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443984" y="914400"/>
            <a:ext cx="1170432" cy="411480"/>
          </a:xfrm>
          <a:prstGeom prst="rect">
            <a:avLst/>
          </a:prstGeom>
          <a:solidFill>
            <a:srgbClr val="C41210"/>
          </a:solidFill>
          <a:ln w="12700">
            <a:solidFill>
              <a:srgbClr val="3A3A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43984" y="914400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614416" y="914400"/>
            <a:ext cx="1170432" cy="411480"/>
          </a:xfrm>
          <a:prstGeom prst="rect">
            <a:avLst/>
          </a:prstGeom>
          <a:solidFill>
            <a:srgbClr val="C41210"/>
          </a:solidFill>
          <a:ln w="12700">
            <a:solidFill>
              <a:srgbClr val="3A3A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14416" y="914400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Accountant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784848" y="914400"/>
            <a:ext cx="1170432" cy="411480"/>
          </a:xfrm>
          <a:prstGeom prst="rect">
            <a:avLst/>
          </a:prstGeom>
          <a:solidFill>
            <a:srgbClr val="C41210"/>
          </a:solidFill>
          <a:ln w="12700">
            <a:solidFill>
              <a:srgbClr val="3A3A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84848" y="914400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955280" y="914400"/>
            <a:ext cx="1170432" cy="411480"/>
          </a:xfrm>
          <a:prstGeom prst="rect">
            <a:avLst/>
          </a:prstGeom>
          <a:solidFill>
            <a:srgbClr val="C41210"/>
          </a:solidFill>
          <a:ln w="12700">
            <a:solidFill>
              <a:srgbClr val="3A3A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955280" y="914400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1325880"/>
            <a:ext cx="1828800" cy="466344"/>
          </a:xfrm>
          <a:prstGeom prst="rect">
            <a:avLst/>
          </a:prstGeom>
          <a:solidFill>
            <a:srgbClr val="252535"/>
          </a:solidFill>
          <a:ln w="12700">
            <a:solidFill>
              <a:srgbClr val="3A3A5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1325880"/>
            <a:ext cx="45720" cy="466344"/>
          </a:xfrm>
          <a:prstGeom prst="rect">
            <a:avLst/>
          </a:prstGeom>
          <a:solidFill>
            <a:srgbClr val="C41210"/>
          </a:solidFill>
          <a:ln w="12700">
            <a:solidFill>
              <a:srgbClr val="C4121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" y="1325880"/>
            <a:ext cx="171907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103120" y="1325880"/>
            <a:ext cx="1170432" cy="466344"/>
          </a:xfrm>
          <a:prstGeom prst="rect">
            <a:avLst/>
          </a:prstGeom>
          <a:solidFill>
            <a:srgbClr val="2D2D42"/>
          </a:solidFill>
          <a:ln w="12700">
            <a:solidFill>
              <a:srgbClr val="3A3A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103120" y="1325880"/>
            <a:ext cx="117043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73552" y="1325880"/>
            <a:ext cx="1170432" cy="466344"/>
          </a:xfrm>
          <a:prstGeom prst="rect">
            <a:avLst/>
          </a:prstGeom>
          <a:solidFill>
            <a:srgbClr val="2D2D42"/>
          </a:solidFill>
          <a:ln w="12700">
            <a:solidFill>
              <a:srgbClr val="3A3A5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73552" y="1325880"/>
            <a:ext cx="117043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KPI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443984" y="1325880"/>
            <a:ext cx="1170432" cy="466344"/>
          </a:xfrm>
          <a:prstGeom prst="rect">
            <a:avLst/>
          </a:prstGeom>
          <a:solidFill>
            <a:srgbClr val="2D2D42"/>
          </a:solidFill>
          <a:ln w="12700">
            <a:solidFill>
              <a:srgbClr val="3A3A5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443984" y="1325880"/>
            <a:ext cx="117043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HR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614416" y="1325880"/>
            <a:ext cx="1170432" cy="466344"/>
          </a:xfrm>
          <a:prstGeom prst="rect">
            <a:avLst/>
          </a:prstGeom>
          <a:solidFill>
            <a:srgbClr val="2D2D42"/>
          </a:solidFill>
          <a:ln w="12700">
            <a:solidFill>
              <a:srgbClr val="3A3A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14416" y="1325880"/>
            <a:ext cx="117043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Lương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784848" y="1325880"/>
            <a:ext cx="1170432" cy="466344"/>
          </a:xfrm>
          <a:prstGeom prst="rect">
            <a:avLst/>
          </a:prstGeom>
          <a:solidFill>
            <a:srgbClr val="2D2D42"/>
          </a:solidFill>
          <a:ln w="12700">
            <a:solidFill>
              <a:srgbClr val="3A3A5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784848" y="1325880"/>
            <a:ext cx="117043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Phòng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7955280" y="1325880"/>
            <a:ext cx="1170432" cy="466344"/>
          </a:xfrm>
          <a:prstGeom prst="rect">
            <a:avLst/>
          </a:prstGeom>
          <a:solidFill>
            <a:srgbClr val="2D2D42"/>
          </a:solidFill>
          <a:ln w="12700">
            <a:solidFill>
              <a:srgbClr val="3A3A5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955280" y="1325880"/>
            <a:ext cx="117043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Cá nhân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74320" y="1792224"/>
            <a:ext cx="1828800" cy="466344"/>
          </a:xfrm>
          <a:prstGeom prst="rect">
            <a:avLst/>
          </a:prstGeom>
          <a:solidFill>
            <a:srgbClr val="252535"/>
          </a:solidFill>
          <a:ln w="12700">
            <a:solidFill>
              <a:srgbClr val="3A3A5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74320" y="1792224"/>
            <a:ext cx="45720" cy="466344"/>
          </a:xfrm>
          <a:prstGeom prst="rect">
            <a:avLst/>
          </a:prstGeom>
          <a:solidFill>
            <a:srgbClr val="C41210"/>
          </a:solidFill>
          <a:ln w="12700">
            <a:solidFill>
              <a:srgbClr val="C4121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84048" y="1792224"/>
            <a:ext cx="171907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Nhân viên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2103120" y="1792224"/>
            <a:ext cx="1170432" cy="466344"/>
          </a:xfrm>
          <a:prstGeom prst="rect">
            <a:avLst/>
          </a:prstGeom>
          <a:solidFill>
            <a:srgbClr val="252535"/>
          </a:solidFill>
          <a:ln w="12700">
            <a:solidFill>
              <a:srgbClr val="3A3A5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103120" y="1792224"/>
            <a:ext cx="117043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273552" y="1792224"/>
            <a:ext cx="1170432" cy="466344"/>
          </a:xfrm>
          <a:prstGeom prst="rect">
            <a:avLst/>
          </a:prstGeom>
          <a:solidFill>
            <a:srgbClr val="1A1A28"/>
          </a:solidFill>
          <a:ln w="12700">
            <a:solidFill>
              <a:srgbClr val="3A3A5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273552" y="1792224"/>
            <a:ext cx="117043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4443984" y="1792224"/>
            <a:ext cx="1170432" cy="466344"/>
          </a:xfrm>
          <a:prstGeom prst="rect">
            <a:avLst/>
          </a:prstGeom>
          <a:solidFill>
            <a:srgbClr val="252535"/>
          </a:solidFill>
          <a:ln w="12700">
            <a:solidFill>
              <a:srgbClr val="3A3A5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443984" y="1792224"/>
            <a:ext cx="117043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5614416" y="1792224"/>
            <a:ext cx="1170432" cy="466344"/>
          </a:xfrm>
          <a:prstGeom prst="rect">
            <a:avLst/>
          </a:prstGeom>
          <a:solidFill>
            <a:srgbClr val="1A1A28"/>
          </a:solidFill>
          <a:ln w="12700">
            <a:solidFill>
              <a:srgbClr val="3A3A5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614416" y="1792224"/>
            <a:ext cx="117043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6784848" y="1792224"/>
            <a:ext cx="1170432" cy="466344"/>
          </a:xfrm>
          <a:prstGeom prst="rect">
            <a:avLst/>
          </a:prstGeom>
          <a:solidFill>
            <a:srgbClr val="1A1A28"/>
          </a:solidFill>
          <a:ln w="12700">
            <a:solidFill>
              <a:srgbClr val="3A3A5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784848" y="1792224"/>
            <a:ext cx="117043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7955280" y="1792224"/>
            <a:ext cx="1170432" cy="466344"/>
          </a:xfrm>
          <a:prstGeom prst="rect">
            <a:avLst/>
          </a:prstGeom>
          <a:solidFill>
            <a:srgbClr val="252535"/>
          </a:solidFill>
          <a:ln w="12700">
            <a:solidFill>
              <a:srgbClr val="3A3A5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955280" y="1792224"/>
            <a:ext cx="117043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Xem mình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274320" y="2258568"/>
            <a:ext cx="1828800" cy="466344"/>
          </a:xfrm>
          <a:prstGeom prst="rect">
            <a:avLst/>
          </a:prstGeom>
          <a:solidFill>
            <a:srgbClr val="252535"/>
          </a:solidFill>
          <a:ln w="12700">
            <a:solidFill>
              <a:srgbClr val="3A3A55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74320" y="2258568"/>
            <a:ext cx="45720" cy="466344"/>
          </a:xfrm>
          <a:prstGeom prst="rect">
            <a:avLst/>
          </a:prstGeom>
          <a:solidFill>
            <a:srgbClr val="C41210"/>
          </a:solidFill>
          <a:ln w="12700">
            <a:solidFill>
              <a:srgbClr val="C4121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84048" y="2258568"/>
            <a:ext cx="171907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Hợp đồng LĐ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2103120" y="2258568"/>
            <a:ext cx="1170432" cy="466344"/>
          </a:xfrm>
          <a:prstGeom prst="rect">
            <a:avLst/>
          </a:prstGeom>
          <a:solidFill>
            <a:srgbClr val="2D2D42"/>
          </a:solidFill>
          <a:ln w="12700">
            <a:solidFill>
              <a:srgbClr val="3A3A55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103120" y="2258568"/>
            <a:ext cx="117043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3273552" y="2258568"/>
            <a:ext cx="1170432" cy="466344"/>
          </a:xfrm>
          <a:prstGeom prst="rect">
            <a:avLst/>
          </a:prstGeom>
          <a:solidFill>
            <a:srgbClr val="1A1A28"/>
          </a:solidFill>
          <a:ln w="12700">
            <a:solidFill>
              <a:srgbClr val="3A3A55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273552" y="2258568"/>
            <a:ext cx="117043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56" name="Shape 54"/>
          <p:cNvSpPr/>
          <p:nvPr/>
        </p:nvSpPr>
        <p:spPr>
          <a:xfrm>
            <a:off x="4443984" y="2258568"/>
            <a:ext cx="1170432" cy="466344"/>
          </a:xfrm>
          <a:prstGeom prst="rect">
            <a:avLst/>
          </a:prstGeom>
          <a:solidFill>
            <a:srgbClr val="2D2D42"/>
          </a:solidFill>
          <a:ln w="12700">
            <a:solidFill>
              <a:srgbClr val="3A3A55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443984" y="2258568"/>
            <a:ext cx="117043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5614416" y="2258568"/>
            <a:ext cx="1170432" cy="466344"/>
          </a:xfrm>
          <a:prstGeom prst="rect">
            <a:avLst/>
          </a:prstGeom>
          <a:solidFill>
            <a:srgbClr val="1A1A28"/>
          </a:solidFill>
          <a:ln w="12700">
            <a:solidFill>
              <a:srgbClr val="3A3A55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614416" y="2258568"/>
            <a:ext cx="117043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60" name="Shape 58"/>
          <p:cNvSpPr/>
          <p:nvPr/>
        </p:nvSpPr>
        <p:spPr>
          <a:xfrm>
            <a:off x="6784848" y="2258568"/>
            <a:ext cx="1170432" cy="466344"/>
          </a:xfrm>
          <a:prstGeom prst="rect">
            <a:avLst/>
          </a:prstGeom>
          <a:solidFill>
            <a:srgbClr val="1A1A28"/>
          </a:solidFill>
          <a:ln w="12700">
            <a:solidFill>
              <a:srgbClr val="3A3A55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784848" y="2258568"/>
            <a:ext cx="117043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62" name="Shape 60"/>
          <p:cNvSpPr/>
          <p:nvPr/>
        </p:nvSpPr>
        <p:spPr>
          <a:xfrm>
            <a:off x="7955280" y="2258568"/>
            <a:ext cx="1170432" cy="466344"/>
          </a:xfrm>
          <a:prstGeom prst="rect">
            <a:avLst/>
          </a:prstGeom>
          <a:solidFill>
            <a:srgbClr val="2D2D42"/>
          </a:solidFill>
          <a:ln w="12700">
            <a:solidFill>
              <a:srgbClr val="3A3A55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955280" y="2258568"/>
            <a:ext cx="117043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Xem mình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274320" y="2724912"/>
            <a:ext cx="1828800" cy="466344"/>
          </a:xfrm>
          <a:prstGeom prst="rect">
            <a:avLst/>
          </a:prstGeom>
          <a:solidFill>
            <a:srgbClr val="252535"/>
          </a:solidFill>
          <a:ln w="12700">
            <a:solidFill>
              <a:srgbClr val="3A3A55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274320" y="2724912"/>
            <a:ext cx="45720" cy="466344"/>
          </a:xfrm>
          <a:prstGeom prst="rect">
            <a:avLst/>
          </a:prstGeom>
          <a:solidFill>
            <a:srgbClr val="C41210"/>
          </a:solidFill>
          <a:ln w="12700">
            <a:solidFill>
              <a:srgbClr val="C4121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84048" y="2724912"/>
            <a:ext cx="171907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Chấm công</a:t>
            </a:r>
            <a:endParaRPr lang="en-US" sz="1050" dirty="0"/>
          </a:p>
        </p:txBody>
      </p:sp>
      <p:sp>
        <p:nvSpPr>
          <p:cNvPr id="67" name="Shape 65"/>
          <p:cNvSpPr/>
          <p:nvPr/>
        </p:nvSpPr>
        <p:spPr>
          <a:xfrm>
            <a:off x="2103120" y="2724912"/>
            <a:ext cx="1170432" cy="466344"/>
          </a:xfrm>
          <a:prstGeom prst="rect">
            <a:avLst/>
          </a:prstGeom>
          <a:solidFill>
            <a:srgbClr val="252535"/>
          </a:solidFill>
          <a:ln w="12700">
            <a:solidFill>
              <a:srgbClr val="3A3A55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2103120" y="2724912"/>
            <a:ext cx="117043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3273552" y="2724912"/>
            <a:ext cx="1170432" cy="466344"/>
          </a:xfrm>
          <a:prstGeom prst="rect">
            <a:avLst/>
          </a:prstGeom>
          <a:solidFill>
            <a:srgbClr val="1A1A28"/>
          </a:solidFill>
          <a:ln w="12700">
            <a:solidFill>
              <a:srgbClr val="3A3A55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273552" y="2724912"/>
            <a:ext cx="117043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71" name="Shape 69"/>
          <p:cNvSpPr/>
          <p:nvPr/>
        </p:nvSpPr>
        <p:spPr>
          <a:xfrm>
            <a:off x="4443984" y="2724912"/>
            <a:ext cx="1170432" cy="466344"/>
          </a:xfrm>
          <a:prstGeom prst="rect">
            <a:avLst/>
          </a:prstGeom>
          <a:solidFill>
            <a:srgbClr val="252535"/>
          </a:solidFill>
          <a:ln w="12700">
            <a:solidFill>
              <a:srgbClr val="3A3A55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443984" y="2724912"/>
            <a:ext cx="117043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5614416" y="2724912"/>
            <a:ext cx="1170432" cy="466344"/>
          </a:xfrm>
          <a:prstGeom prst="rect">
            <a:avLst/>
          </a:prstGeom>
          <a:solidFill>
            <a:srgbClr val="1A1A28"/>
          </a:solidFill>
          <a:ln w="12700">
            <a:solidFill>
              <a:srgbClr val="3A3A55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5614416" y="2724912"/>
            <a:ext cx="117043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75" name="Shape 73"/>
          <p:cNvSpPr/>
          <p:nvPr/>
        </p:nvSpPr>
        <p:spPr>
          <a:xfrm>
            <a:off x="6784848" y="2724912"/>
            <a:ext cx="1170432" cy="466344"/>
          </a:xfrm>
          <a:prstGeom prst="rect">
            <a:avLst/>
          </a:prstGeom>
          <a:solidFill>
            <a:srgbClr val="252535"/>
          </a:solidFill>
          <a:ln w="12700">
            <a:solidFill>
              <a:srgbClr val="3A3A55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784848" y="2724912"/>
            <a:ext cx="117043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Phòng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7955280" y="2724912"/>
            <a:ext cx="1170432" cy="466344"/>
          </a:xfrm>
          <a:prstGeom prst="rect">
            <a:avLst/>
          </a:prstGeom>
          <a:solidFill>
            <a:srgbClr val="252535"/>
          </a:solidFill>
          <a:ln w="12700">
            <a:solidFill>
              <a:srgbClr val="3A3A55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7955280" y="2724912"/>
            <a:ext cx="117043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950" dirty="0"/>
          </a:p>
        </p:txBody>
      </p:sp>
      <p:sp>
        <p:nvSpPr>
          <p:cNvPr id="79" name="Shape 77"/>
          <p:cNvSpPr/>
          <p:nvPr/>
        </p:nvSpPr>
        <p:spPr>
          <a:xfrm>
            <a:off x="274320" y="3191256"/>
            <a:ext cx="1828800" cy="466344"/>
          </a:xfrm>
          <a:prstGeom prst="rect">
            <a:avLst/>
          </a:prstGeom>
          <a:solidFill>
            <a:srgbClr val="252535"/>
          </a:solidFill>
          <a:ln w="12700">
            <a:solidFill>
              <a:srgbClr val="3A3A55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274320" y="3191256"/>
            <a:ext cx="45720" cy="466344"/>
          </a:xfrm>
          <a:prstGeom prst="rect">
            <a:avLst/>
          </a:prstGeom>
          <a:solidFill>
            <a:srgbClr val="C41210"/>
          </a:solidFill>
          <a:ln w="12700">
            <a:solidFill>
              <a:srgbClr val="C4121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384048" y="3191256"/>
            <a:ext cx="171907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Duyệt nghỉ phép</a:t>
            </a:r>
            <a:endParaRPr lang="en-US" sz="1050" dirty="0"/>
          </a:p>
        </p:txBody>
      </p:sp>
      <p:sp>
        <p:nvSpPr>
          <p:cNvPr id="82" name="Shape 80"/>
          <p:cNvSpPr/>
          <p:nvPr/>
        </p:nvSpPr>
        <p:spPr>
          <a:xfrm>
            <a:off x="2103120" y="3191256"/>
            <a:ext cx="1170432" cy="466344"/>
          </a:xfrm>
          <a:prstGeom prst="rect">
            <a:avLst/>
          </a:prstGeom>
          <a:solidFill>
            <a:srgbClr val="2D2D42"/>
          </a:solidFill>
          <a:ln w="12700">
            <a:solidFill>
              <a:srgbClr val="3A3A55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2103120" y="3191256"/>
            <a:ext cx="117043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950" dirty="0"/>
          </a:p>
        </p:txBody>
      </p:sp>
      <p:sp>
        <p:nvSpPr>
          <p:cNvPr id="84" name="Shape 82"/>
          <p:cNvSpPr/>
          <p:nvPr/>
        </p:nvSpPr>
        <p:spPr>
          <a:xfrm>
            <a:off x="3273552" y="3191256"/>
            <a:ext cx="1170432" cy="466344"/>
          </a:xfrm>
          <a:prstGeom prst="rect">
            <a:avLst/>
          </a:prstGeom>
          <a:solidFill>
            <a:srgbClr val="1A1A28"/>
          </a:solidFill>
          <a:ln w="12700">
            <a:solidFill>
              <a:srgbClr val="3A3A55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3273552" y="3191256"/>
            <a:ext cx="117043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86" name="Shape 84"/>
          <p:cNvSpPr/>
          <p:nvPr/>
        </p:nvSpPr>
        <p:spPr>
          <a:xfrm>
            <a:off x="4443984" y="3191256"/>
            <a:ext cx="1170432" cy="466344"/>
          </a:xfrm>
          <a:prstGeom prst="rect">
            <a:avLst/>
          </a:prstGeom>
          <a:solidFill>
            <a:srgbClr val="2D2D42"/>
          </a:solidFill>
          <a:ln w="12700">
            <a:solidFill>
              <a:srgbClr val="3A3A55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4443984" y="3191256"/>
            <a:ext cx="117043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950" dirty="0"/>
          </a:p>
        </p:txBody>
      </p:sp>
      <p:sp>
        <p:nvSpPr>
          <p:cNvPr id="88" name="Shape 86"/>
          <p:cNvSpPr/>
          <p:nvPr/>
        </p:nvSpPr>
        <p:spPr>
          <a:xfrm>
            <a:off x="5614416" y="3191256"/>
            <a:ext cx="1170432" cy="466344"/>
          </a:xfrm>
          <a:prstGeom prst="rect">
            <a:avLst/>
          </a:prstGeom>
          <a:solidFill>
            <a:srgbClr val="1A1A28"/>
          </a:solidFill>
          <a:ln w="12700">
            <a:solidFill>
              <a:srgbClr val="3A3A55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5614416" y="3191256"/>
            <a:ext cx="117043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90" name="Shape 88"/>
          <p:cNvSpPr/>
          <p:nvPr/>
        </p:nvSpPr>
        <p:spPr>
          <a:xfrm>
            <a:off x="6784848" y="3191256"/>
            <a:ext cx="1170432" cy="466344"/>
          </a:xfrm>
          <a:prstGeom prst="rect">
            <a:avLst/>
          </a:prstGeom>
          <a:solidFill>
            <a:srgbClr val="2D2D42"/>
          </a:solidFill>
          <a:ln w="12700">
            <a:solidFill>
              <a:srgbClr val="3A3A55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6784848" y="3191256"/>
            <a:ext cx="117043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Phòng</a:t>
            </a:r>
            <a:endParaRPr lang="en-US" sz="950" dirty="0"/>
          </a:p>
        </p:txBody>
      </p:sp>
      <p:sp>
        <p:nvSpPr>
          <p:cNvPr id="92" name="Shape 90"/>
          <p:cNvSpPr/>
          <p:nvPr/>
        </p:nvSpPr>
        <p:spPr>
          <a:xfrm>
            <a:off x="7955280" y="3191256"/>
            <a:ext cx="1170432" cy="466344"/>
          </a:xfrm>
          <a:prstGeom prst="rect">
            <a:avLst/>
          </a:prstGeom>
          <a:solidFill>
            <a:srgbClr val="1A1A28"/>
          </a:solidFill>
          <a:ln w="12700">
            <a:solidFill>
              <a:srgbClr val="3A3A55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7955280" y="3191256"/>
            <a:ext cx="117043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94" name="Shape 92"/>
          <p:cNvSpPr/>
          <p:nvPr/>
        </p:nvSpPr>
        <p:spPr>
          <a:xfrm>
            <a:off x="274320" y="3657600"/>
            <a:ext cx="1828800" cy="466344"/>
          </a:xfrm>
          <a:prstGeom prst="rect">
            <a:avLst/>
          </a:prstGeom>
          <a:solidFill>
            <a:srgbClr val="252535"/>
          </a:solidFill>
          <a:ln w="12700">
            <a:solidFill>
              <a:srgbClr val="3A3A55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274320" y="3657600"/>
            <a:ext cx="45720" cy="466344"/>
          </a:xfrm>
          <a:prstGeom prst="rect">
            <a:avLst/>
          </a:prstGeom>
          <a:solidFill>
            <a:srgbClr val="C41210"/>
          </a:solidFill>
          <a:ln w="12700">
            <a:solidFill>
              <a:srgbClr val="C41210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384048" y="3657600"/>
            <a:ext cx="171907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Tính lương</a:t>
            </a:r>
            <a:endParaRPr lang="en-US" sz="1050" dirty="0"/>
          </a:p>
        </p:txBody>
      </p:sp>
      <p:sp>
        <p:nvSpPr>
          <p:cNvPr id="97" name="Shape 95"/>
          <p:cNvSpPr/>
          <p:nvPr/>
        </p:nvSpPr>
        <p:spPr>
          <a:xfrm>
            <a:off x="2103120" y="3657600"/>
            <a:ext cx="1170432" cy="466344"/>
          </a:xfrm>
          <a:prstGeom prst="rect">
            <a:avLst/>
          </a:prstGeom>
          <a:solidFill>
            <a:srgbClr val="252535"/>
          </a:solidFill>
          <a:ln w="12700">
            <a:solidFill>
              <a:srgbClr val="3A3A55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2103120" y="3657600"/>
            <a:ext cx="117043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950" dirty="0"/>
          </a:p>
        </p:txBody>
      </p:sp>
      <p:sp>
        <p:nvSpPr>
          <p:cNvPr id="99" name="Shape 97"/>
          <p:cNvSpPr/>
          <p:nvPr/>
        </p:nvSpPr>
        <p:spPr>
          <a:xfrm>
            <a:off x="3273552" y="3657600"/>
            <a:ext cx="1170432" cy="466344"/>
          </a:xfrm>
          <a:prstGeom prst="rect">
            <a:avLst/>
          </a:prstGeom>
          <a:solidFill>
            <a:srgbClr val="1A1A28"/>
          </a:solidFill>
          <a:ln w="12700">
            <a:solidFill>
              <a:srgbClr val="3A3A55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3273552" y="3657600"/>
            <a:ext cx="117043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101" name="Shape 99"/>
          <p:cNvSpPr/>
          <p:nvPr/>
        </p:nvSpPr>
        <p:spPr>
          <a:xfrm>
            <a:off x="4443984" y="3657600"/>
            <a:ext cx="1170432" cy="466344"/>
          </a:xfrm>
          <a:prstGeom prst="rect">
            <a:avLst/>
          </a:prstGeom>
          <a:solidFill>
            <a:srgbClr val="1A1A28"/>
          </a:solidFill>
          <a:ln w="12700">
            <a:solidFill>
              <a:srgbClr val="3A3A55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4443984" y="3657600"/>
            <a:ext cx="117043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103" name="Shape 101"/>
          <p:cNvSpPr/>
          <p:nvPr/>
        </p:nvSpPr>
        <p:spPr>
          <a:xfrm>
            <a:off x="5614416" y="3657600"/>
            <a:ext cx="1170432" cy="466344"/>
          </a:xfrm>
          <a:prstGeom prst="rect">
            <a:avLst/>
          </a:prstGeom>
          <a:solidFill>
            <a:srgbClr val="252535"/>
          </a:solidFill>
          <a:ln w="12700">
            <a:solidFill>
              <a:srgbClr val="3A3A55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5614416" y="3657600"/>
            <a:ext cx="117043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950" dirty="0"/>
          </a:p>
        </p:txBody>
      </p:sp>
      <p:sp>
        <p:nvSpPr>
          <p:cNvPr id="105" name="Shape 103"/>
          <p:cNvSpPr/>
          <p:nvPr/>
        </p:nvSpPr>
        <p:spPr>
          <a:xfrm>
            <a:off x="6784848" y="3657600"/>
            <a:ext cx="1170432" cy="466344"/>
          </a:xfrm>
          <a:prstGeom prst="rect">
            <a:avLst/>
          </a:prstGeom>
          <a:solidFill>
            <a:srgbClr val="1A1A28"/>
          </a:solidFill>
          <a:ln w="12700">
            <a:solidFill>
              <a:srgbClr val="3A3A55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6784848" y="3657600"/>
            <a:ext cx="117043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107" name="Shape 105"/>
          <p:cNvSpPr/>
          <p:nvPr/>
        </p:nvSpPr>
        <p:spPr>
          <a:xfrm>
            <a:off x="7955280" y="3657600"/>
            <a:ext cx="1170432" cy="466344"/>
          </a:xfrm>
          <a:prstGeom prst="rect">
            <a:avLst/>
          </a:prstGeom>
          <a:solidFill>
            <a:srgbClr val="1A1A28"/>
          </a:solidFill>
          <a:ln w="12700">
            <a:solidFill>
              <a:srgbClr val="3A3A55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7955280" y="3657600"/>
            <a:ext cx="117043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109" name="Shape 107"/>
          <p:cNvSpPr/>
          <p:nvPr/>
        </p:nvSpPr>
        <p:spPr>
          <a:xfrm>
            <a:off x="274320" y="4123944"/>
            <a:ext cx="1828800" cy="466344"/>
          </a:xfrm>
          <a:prstGeom prst="rect">
            <a:avLst/>
          </a:prstGeom>
          <a:solidFill>
            <a:srgbClr val="252535"/>
          </a:solidFill>
          <a:ln w="12700">
            <a:solidFill>
              <a:srgbClr val="3A3A55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274320" y="4123944"/>
            <a:ext cx="45720" cy="466344"/>
          </a:xfrm>
          <a:prstGeom prst="rect">
            <a:avLst/>
          </a:prstGeom>
          <a:solidFill>
            <a:srgbClr val="C41210"/>
          </a:solidFill>
          <a:ln w="12700">
            <a:solidFill>
              <a:srgbClr val="C41210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384048" y="4123944"/>
            <a:ext cx="171907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Xem phiếu lương</a:t>
            </a:r>
            <a:endParaRPr lang="en-US" sz="1050" dirty="0"/>
          </a:p>
        </p:txBody>
      </p:sp>
      <p:sp>
        <p:nvSpPr>
          <p:cNvPr id="112" name="Shape 110"/>
          <p:cNvSpPr/>
          <p:nvPr/>
        </p:nvSpPr>
        <p:spPr>
          <a:xfrm>
            <a:off x="2103120" y="4123944"/>
            <a:ext cx="1170432" cy="466344"/>
          </a:xfrm>
          <a:prstGeom prst="rect">
            <a:avLst/>
          </a:prstGeom>
          <a:solidFill>
            <a:srgbClr val="2D2D42"/>
          </a:solidFill>
          <a:ln w="12700">
            <a:solidFill>
              <a:srgbClr val="3A3A55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2103120" y="4123944"/>
            <a:ext cx="117043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950" dirty="0"/>
          </a:p>
        </p:txBody>
      </p:sp>
      <p:sp>
        <p:nvSpPr>
          <p:cNvPr id="114" name="Shape 112"/>
          <p:cNvSpPr/>
          <p:nvPr/>
        </p:nvSpPr>
        <p:spPr>
          <a:xfrm>
            <a:off x="3273552" y="4123944"/>
            <a:ext cx="1170432" cy="466344"/>
          </a:xfrm>
          <a:prstGeom prst="rect">
            <a:avLst/>
          </a:prstGeom>
          <a:solidFill>
            <a:srgbClr val="1A1A28"/>
          </a:solidFill>
          <a:ln w="12700">
            <a:solidFill>
              <a:srgbClr val="3A3A55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3273552" y="4123944"/>
            <a:ext cx="117043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116" name="Shape 114"/>
          <p:cNvSpPr/>
          <p:nvPr/>
        </p:nvSpPr>
        <p:spPr>
          <a:xfrm>
            <a:off x="4443984" y="4123944"/>
            <a:ext cx="1170432" cy="466344"/>
          </a:xfrm>
          <a:prstGeom prst="rect">
            <a:avLst/>
          </a:prstGeom>
          <a:solidFill>
            <a:srgbClr val="1A1A28"/>
          </a:solidFill>
          <a:ln w="12700">
            <a:solidFill>
              <a:srgbClr val="3A3A55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4443984" y="4123944"/>
            <a:ext cx="117043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118" name="Shape 116"/>
          <p:cNvSpPr/>
          <p:nvPr/>
        </p:nvSpPr>
        <p:spPr>
          <a:xfrm>
            <a:off x="5614416" y="4123944"/>
            <a:ext cx="1170432" cy="466344"/>
          </a:xfrm>
          <a:prstGeom prst="rect">
            <a:avLst/>
          </a:prstGeom>
          <a:solidFill>
            <a:srgbClr val="2D2D42"/>
          </a:solidFill>
          <a:ln w="12700">
            <a:solidFill>
              <a:srgbClr val="3A3A55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5614416" y="4123944"/>
            <a:ext cx="117043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950" dirty="0"/>
          </a:p>
        </p:txBody>
      </p:sp>
      <p:sp>
        <p:nvSpPr>
          <p:cNvPr id="120" name="Shape 118"/>
          <p:cNvSpPr/>
          <p:nvPr/>
        </p:nvSpPr>
        <p:spPr>
          <a:xfrm>
            <a:off x="6784848" y="4123944"/>
            <a:ext cx="1170432" cy="466344"/>
          </a:xfrm>
          <a:prstGeom prst="rect">
            <a:avLst/>
          </a:prstGeom>
          <a:solidFill>
            <a:srgbClr val="1A1A28"/>
          </a:solidFill>
          <a:ln w="12700">
            <a:solidFill>
              <a:srgbClr val="3A3A55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6784848" y="4123944"/>
            <a:ext cx="117043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122" name="Shape 120"/>
          <p:cNvSpPr/>
          <p:nvPr/>
        </p:nvSpPr>
        <p:spPr>
          <a:xfrm>
            <a:off x="7955280" y="4123944"/>
            <a:ext cx="1170432" cy="466344"/>
          </a:xfrm>
          <a:prstGeom prst="rect">
            <a:avLst/>
          </a:prstGeom>
          <a:solidFill>
            <a:srgbClr val="2D2D42"/>
          </a:solidFill>
          <a:ln w="12700">
            <a:solidFill>
              <a:srgbClr val="3A3A55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7955280" y="4123944"/>
            <a:ext cx="117043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Xem mình</a:t>
            </a:r>
            <a:endParaRPr lang="en-US" sz="950" dirty="0"/>
          </a:p>
        </p:txBody>
      </p:sp>
      <p:sp>
        <p:nvSpPr>
          <p:cNvPr id="124" name="Shape 122"/>
          <p:cNvSpPr/>
          <p:nvPr/>
        </p:nvSpPr>
        <p:spPr>
          <a:xfrm>
            <a:off x="274320" y="4590288"/>
            <a:ext cx="1828800" cy="466344"/>
          </a:xfrm>
          <a:prstGeom prst="rect">
            <a:avLst/>
          </a:prstGeom>
          <a:solidFill>
            <a:srgbClr val="252535"/>
          </a:solidFill>
          <a:ln w="12700">
            <a:solidFill>
              <a:srgbClr val="3A3A55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274320" y="4590288"/>
            <a:ext cx="45720" cy="466344"/>
          </a:xfrm>
          <a:prstGeom prst="rect">
            <a:avLst/>
          </a:prstGeom>
          <a:solidFill>
            <a:srgbClr val="C41210"/>
          </a:solidFill>
          <a:ln w="12700">
            <a:solidFill>
              <a:srgbClr val="C41210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384048" y="4590288"/>
            <a:ext cx="171907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lý tài khoản</a:t>
            </a:r>
            <a:endParaRPr lang="en-US" sz="1050" dirty="0"/>
          </a:p>
        </p:txBody>
      </p:sp>
      <p:sp>
        <p:nvSpPr>
          <p:cNvPr id="127" name="Shape 125"/>
          <p:cNvSpPr/>
          <p:nvPr/>
        </p:nvSpPr>
        <p:spPr>
          <a:xfrm>
            <a:off x="2103120" y="4590288"/>
            <a:ext cx="1170432" cy="466344"/>
          </a:xfrm>
          <a:prstGeom prst="rect">
            <a:avLst/>
          </a:prstGeom>
          <a:solidFill>
            <a:srgbClr val="252535"/>
          </a:solidFill>
          <a:ln w="12700">
            <a:solidFill>
              <a:srgbClr val="3A3A55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2103120" y="4590288"/>
            <a:ext cx="117043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950" dirty="0"/>
          </a:p>
        </p:txBody>
      </p:sp>
      <p:sp>
        <p:nvSpPr>
          <p:cNvPr id="129" name="Shape 127"/>
          <p:cNvSpPr/>
          <p:nvPr/>
        </p:nvSpPr>
        <p:spPr>
          <a:xfrm>
            <a:off x="3273552" y="4590288"/>
            <a:ext cx="1170432" cy="466344"/>
          </a:xfrm>
          <a:prstGeom prst="rect">
            <a:avLst/>
          </a:prstGeom>
          <a:solidFill>
            <a:srgbClr val="1A1A28"/>
          </a:solidFill>
          <a:ln w="12700">
            <a:solidFill>
              <a:srgbClr val="3A3A55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3273552" y="4590288"/>
            <a:ext cx="117043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131" name="Shape 129"/>
          <p:cNvSpPr/>
          <p:nvPr/>
        </p:nvSpPr>
        <p:spPr>
          <a:xfrm>
            <a:off x="4443984" y="4590288"/>
            <a:ext cx="1170432" cy="466344"/>
          </a:xfrm>
          <a:prstGeom prst="rect">
            <a:avLst/>
          </a:prstGeom>
          <a:solidFill>
            <a:srgbClr val="1A1A28"/>
          </a:solidFill>
          <a:ln w="12700">
            <a:solidFill>
              <a:srgbClr val="3A3A55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4443984" y="4590288"/>
            <a:ext cx="117043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133" name="Shape 131"/>
          <p:cNvSpPr/>
          <p:nvPr/>
        </p:nvSpPr>
        <p:spPr>
          <a:xfrm>
            <a:off x="5614416" y="4590288"/>
            <a:ext cx="1170432" cy="466344"/>
          </a:xfrm>
          <a:prstGeom prst="rect">
            <a:avLst/>
          </a:prstGeom>
          <a:solidFill>
            <a:srgbClr val="1A1A28"/>
          </a:solidFill>
          <a:ln w="12700">
            <a:solidFill>
              <a:srgbClr val="3A3A55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5614416" y="4590288"/>
            <a:ext cx="117043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135" name="Shape 133"/>
          <p:cNvSpPr/>
          <p:nvPr/>
        </p:nvSpPr>
        <p:spPr>
          <a:xfrm>
            <a:off x="6784848" y="4590288"/>
            <a:ext cx="1170432" cy="466344"/>
          </a:xfrm>
          <a:prstGeom prst="rect">
            <a:avLst/>
          </a:prstGeom>
          <a:solidFill>
            <a:srgbClr val="1A1A28"/>
          </a:solidFill>
          <a:ln w="12700">
            <a:solidFill>
              <a:srgbClr val="3A3A55"/>
            </a:solidFill>
            <a:prstDash val="solid"/>
          </a:ln>
        </p:spPr>
      </p:sp>
      <p:sp>
        <p:nvSpPr>
          <p:cNvPr id="136" name="Text 134"/>
          <p:cNvSpPr/>
          <p:nvPr/>
        </p:nvSpPr>
        <p:spPr>
          <a:xfrm>
            <a:off x="6784848" y="4590288"/>
            <a:ext cx="117043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137" name="Shape 135"/>
          <p:cNvSpPr/>
          <p:nvPr/>
        </p:nvSpPr>
        <p:spPr>
          <a:xfrm>
            <a:off x="7955280" y="4590288"/>
            <a:ext cx="1170432" cy="466344"/>
          </a:xfrm>
          <a:prstGeom prst="rect">
            <a:avLst/>
          </a:prstGeom>
          <a:solidFill>
            <a:srgbClr val="1A1A28"/>
          </a:solidFill>
          <a:ln w="12700">
            <a:solidFill>
              <a:srgbClr val="3A3A55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7955280" y="4590288"/>
            <a:ext cx="117043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64008" cy="502920"/>
          </a:xfrm>
          <a:prstGeom prst="rect">
            <a:avLst/>
          </a:prstGeom>
          <a:solidFill>
            <a:srgbClr val="C41210"/>
          </a:solidFill>
          <a:ln w="12700">
            <a:solidFill>
              <a:srgbClr val="C4121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828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Công thức tính lương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8580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 luật Việt Nam — Gross → Net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8503920" cy="548640"/>
          </a:xfrm>
          <a:prstGeom prst="rect">
            <a:avLst/>
          </a:prstGeom>
          <a:solidFill>
            <a:srgbClr val="2D2D42"/>
          </a:solidFill>
          <a:ln w="6350">
            <a:solidFill>
              <a:srgbClr val="3A3A5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960120"/>
            <a:ext cx="640080" cy="548640"/>
          </a:xfrm>
          <a:prstGeom prst="rect">
            <a:avLst/>
          </a:prstGeom>
          <a:solidFill>
            <a:srgbClr val="C41210"/>
          </a:solidFill>
          <a:ln w="12700">
            <a:solidFill>
              <a:srgbClr val="C4121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9601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9601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412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017520" y="1097280"/>
            <a:ext cx="36576" cy="274320"/>
          </a:xfrm>
          <a:prstGeom prst="rect">
            <a:avLst/>
          </a:prstGeom>
          <a:solidFill>
            <a:srgbClr val="3A3A55"/>
          </a:solidFill>
          <a:ln w="12700">
            <a:solidFill>
              <a:srgbClr val="3A3A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54680" y="96012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CC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(Lương CB × Hệ số) + Phụ cấp + Tiền OT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1600200"/>
            <a:ext cx="8503920" cy="548640"/>
          </a:xfrm>
          <a:prstGeom prst="rect">
            <a:avLst/>
          </a:prstGeom>
          <a:solidFill>
            <a:srgbClr val="2D2D42"/>
          </a:solidFill>
          <a:ln w="6350">
            <a:solidFill>
              <a:srgbClr val="3A3A5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1600200"/>
            <a:ext cx="640080" cy="548640"/>
          </a:xfrm>
          <a:prstGeom prst="rect">
            <a:avLst/>
          </a:prstGeom>
          <a:solidFill>
            <a:srgbClr val="5A67D8"/>
          </a:solidFill>
          <a:ln w="12700">
            <a:solidFill>
              <a:srgbClr val="5A67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160020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51560" y="16002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A67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BẢO HIỂM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017520" y="1737360"/>
            <a:ext cx="36576" cy="274320"/>
          </a:xfrm>
          <a:prstGeom prst="rect">
            <a:avLst/>
          </a:prstGeom>
          <a:solidFill>
            <a:srgbClr val="3A3A55"/>
          </a:solidFill>
          <a:ln w="12700">
            <a:solidFill>
              <a:srgbClr val="3A3A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54680" y="160020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CC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(Lương CB × Hệ số) × 10.5%  [BHXH 8% + BHYT 1.5% + BHTN 1%]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2240280"/>
            <a:ext cx="8503920" cy="548640"/>
          </a:xfrm>
          <a:prstGeom prst="rect">
            <a:avLst/>
          </a:prstGeom>
          <a:solidFill>
            <a:srgbClr val="2D2D42"/>
          </a:solidFill>
          <a:ln w="6350">
            <a:solidFill>
              <a:srgbClr val="3A3A5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2240280"/>
            <a:ext cx="640080" cy="548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224028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51560" y="22402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GIẢM TRỪ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017520" y="2377440"/>
            <a:ext cx="36576" cy="274320"/>
          </a:xfrm>
          <a:prstGeom prst="rect">
            <a:avLst/>
          </a:prstGeom>
          <a:solidFill>
            <a:srgbClr val="3A3A55"/>
          </a:solidFill>
          <a:ln w="12700">
            <a:solidFill>
              <a:srgbClr val="3A3A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154680" y="224028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CC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15.500.000đ (bản thân) + 6.200.000đ × Số người phụ thuộc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0040" y="2880360"/>
            <a:ext cx="8503920" cy="548640"/>
          </a:xfrm>
          <a:prstGeom prst="rect">
            <a:avLst/>
          </a:prstGeom>
          <a:solidFill>
            <a:srgbClr val="2D2D42"/>
          </a:solidFill>
          <a:ln w="6350">
            <a:solidFill>
              <a:srgbClr val="3A3A5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0040" y="2880360"/>
            <a:ext cx="640080" cy="54864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288036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051560" y="28803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 NHẬP CHỊU THUẾ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017520" y="3017520"/>
            <a:ext cx="36576" cy="274320"/>
          </a:xfrm>
          <a:prstGeom prst="rect">
            <a:avLst/>
          </a:prstGeom>
          <a:solidFill>
            <a:srgbClr val="3A3A55"/>
          </a:solidFill>
          <a:ln w="12700">
            <a:solidFill>
              <a:srgbClr val="3A3A5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154680" y="288036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CC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max(0, Gross − Bảo hiểm − Giảm trừ)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20040" y="3520440"/>
            <a:ext cx="8503920" cy="548640"/>
          </a:xfrm>
          <a:prstGeom prst="rect">
            <a:avLst/>
          </a:prstGeom>
          <a:solidFill>
            <a:srgbClr val="2D2D42"/>
          </a:solidFill>
          <a:ln w="6350">
            <a:solidFill>
              <a:srgbClr val="3A3A5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0040" y="3520440"/>
            <a:ext cx="640080" cy="5486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0040" y="352044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051560" y="35204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THUẾ TNCN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017520" y="3657600"/>
            <a:ext cx="36576" cy="274320"/>
          </a:xfrm>
          <a:prstGeom prst="rect">
            <a:avLst/>
          </a:prstGeom>
          <a:solidFill>
            <a:srgbClr val="3A3A55"/>
          </a:solidFill>
          <a:ln w="12700">
            <a:solidFill>
              <a:srgbClr val="3A3A5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154680" y="352044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CC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Biểu lũy tiến 7 bậc: 5% → 10% → 15% → 20% → 25% → 30% → 35%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20040" y="4160520"/>
            <a:ext cx="8503920" cy="548640"/>
          </a:xfrm>
          <a:prstGeom prst="rect">
            <a:avLst/>
          </a:prstGeom>
          <a:solidFill>
            <a:srgbClr val="2D2D42"/>
          </a:solidFill>
          <a:ln w="6350">
            <a:solidFill>
              <a:srgbClr val="3A3A5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20040" y="4160520"/>
            <a:ext cx="640080" cy="5486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" y="41605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051560" y="41605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LƯƠNG NET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3017520" y="4297680"/>
            <a:ext cx="36576" cy="274320"/>
          </a:xfrm>
          <a:prstGeom prst="rect">
            <a:avLst/>
          </a:prstGeom>
          <a:solidFill>
            <a:srgbClr val="3A3A55"/>
          </a:solidFill>
          <a:ln w="12700">
            <a:solidFill>
              <a:srgbClr val="3A3A5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154680" y="416052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CC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Gross − Bảo hiểm − Thuế TNCN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320040" y="4773168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Thực tập sinh: CB × 85%  ·  OT thường: ×1.5  ·  OT T7/CN: ×2.0  ·  OT ngày lễ: ×3.0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64008" cy="502920"/>
          </a:xfrm>
          <a:prstGeom prst="rect">
            <a:avLst/>
          </a:prstGeom>
          <a:solidFill>
            <a:srgbClr val="C41210"/>
          </a:solidFill>
          <a:ln w="12700">
            <a:solidFill>
              <a:srgbClr val="C4121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828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Chấm công GPS — Luồng hoạt động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8580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Geolocation API + Haversine Formula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4160520" cy="804672"/>
          </a:xfrm>
          <a:prstGeom prst="rect">
            <a:avLst/>
          </a:prstGeom>
          <a:solidFill>
            <a:srgbClr val="2D2D42"/>
          </a:solidFill>
          <a:ln w="6350">
            <a:solidFill>
              <a:srgbClr val="3A3A5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960120"/>
            <a:ext cx="502920" cy="804672"/>
          </a:xfrm>
          <a:prstGeom prst="rect">
            <a:avLst/>
          </a:prstGeom>
          <a:solidFill>
            <a:srgbClr val="C41210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960120"/>
            <a:ext cx="502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400" y="1033272"/>
            <a:ext cx="3474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Nhân viên mở trang Check-in trên trình duyệt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1947672"/>
            <a:ext cx="4160520" cy="804672"/>
          </a:xfrm>
          <a:prstGeom prst="rect">
            <a:avLst/>
          </a:prstGeom>
          <a:solidFill>
            <a:srgbClr val="2D2D42"/>
          </a:solidFill>
          <a:ln w="6350">
            <a:solidFill>
              <a:srgbClr val="3A3A5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947672"/>
            <a:ext cx="502920" cy="804672"/>
          </a:xfrm>
          <a:prstGeom prst="rect">
            <a:avLst/>
          </a:prstGeom>
          <a:solidFill>
            <a:srgbClr val="C41210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947672"/>
            <a:ext cx="502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914400" y="2020824"/>
            <a:ext cx="3474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xin quyền Geolocation API (GPS)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2935224"/>
            <a:ext cx="4160520" cy="804672"/>
          </a:xfrm>
          <a:prstGeom prst="rect">
            <a:avLst/>
          </a:prstGeom>
          <a:solidFill>
            <a:srgbClr val="2D2D42"/>
          </a:solidFill>
          <a:ln w="6350">
            <a:solidFill>
              <a:srgbClr val="3A3A5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2935224"/>
            <a:ext cx="502920" cy="804672"/>
          </a:xfrm>
          <a:prstGeom prst="rect">
            <a:avLst/>
          </a:prstGeom>
          <a:solidFill>
            <a:srgbClr val="C41210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2935224"/>
            <a:ext cx="502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914400" y="3008376"/>
            <a:ext cx="3474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 tính khoảng cách bằng công thức Haversine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63440" y="960120"/>
            <a:ext cx="4160520" cy="804672"/>
          </a:xfrm>
          <a:prstGeom prst="rect">
            <a:avLst/>
          </a:prstGeom>
          <a:solidFill>
            <a:srgbClr val="2D2D42"/>
          </a:solidFill>
          <a:ln w="6350">
            <a:solidFill>
              <a:srgbClr val="3A3A5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960120"/>
            <a:ext cx="502920" cy="804672"/>
          </a:xfrm>
          <a:prstGeom prst="rect">
            <a:avLst/>
          </a:prstGeom>
          <a:solidFill>
            <a:srgbClr val="F59E0B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63440" y="960120"/>
            <a:ext cx="502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257800" y="1033272"/>
            <a:ext cx="3474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Kiểm tra: khoảng cách ≤ 500m?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63440" y="1947672"/>
            <a:ext cx="4160520" cy="804672"/>
          </a:xfrm>
          <a:prstGeom prst="rect">
            <a:avLst/>
          </a:prstGeom>
          <a:solidFill>
            <a:srgbClr val="2D2D42"/>
          </a:solidFill>
          <a:ln w="6350">
            <a:solidFill>
              <a:srgbClr val="3A3A5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63440" y="1947672"/>
            <a:ext cx="502920" cy="804672"/>
          </a:xfrm>
          <a:prstGeom prst="rect">
            <a:avLst/>
          </a:prstGeom>
          <a:solidFill>
            <a:srgbClr val="22C55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63440" y="1947672"/>
            <a:ext cx="502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5257800" y="2020824"/>
            <a:ext cx="3474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 → Check-in, ghi nhận thời gian, tính phút đi muộn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663440" y="2935224"/>
            <a:ext cx="4160520" cy="804672"/>
          </a:xfrm>
          <a:prstGeom prst="rect">
            <a:avLst/>
          </a:prstGeom>
          <a:solidFill>
            <a:srgbClr val="2D2D42"/>
          </a:solidFill>
          <a:ln w="6350">
            <a:solidFill>
              <a:srgbClr val="3A3A5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63440" y="2935224"/>
            <a:ext cx="502920" cy="804672"/>
          </a:xfrm>
          <a:prstGeom prst="rect">
            <a:avLst/>
          </a:prstGeom>
          <a:solidFill>
            <a:srgbClr val="C41210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63440" y="2935224"/>
            <a:ext cx="502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5257800" y="3008376"/>
            <a:ext cx="3474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Check-out → Tính tổng giờ làm, giờ OT, phút về sớm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20040" y="4041648"/>
            <a:ext cx="8503920" cy="685800"/>
          </a:xfrm>
          <a:prstGeom prst="rect">
            <a:avLst/>
          </a:prstGeom>
          <a:solidFill>
            <a:srgbClr val="2D2D42"/>
          </a:solidFill>
          <a:ln w="12700">
            <a:solidFill>
              <a:srgbClr val="3A3A5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0040" y="4041648"/>
            <a:ext cx="54864" cy="6858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4041648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Haversine: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554480" y="4041648"/>
            <a:ext cx="7132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CCC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 = 2R × arcsin( √[ sin²(Δlat/2) + cos(lat₁) × cos(lat₂) × sin²(Δlon/2) ] )    R = 6.371 km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320040" y="4773168"/>
            <a:ext cx="4114800" cy="292608"/>
          </a:xfrm>
          <a:prstGeom prst="rect">
            <a:avLst/>
          </a:prstGeom>
          <a:solidFill>
            <a:srgbClr val="14532D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0040" y="477316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500m  →  🟢 Trong khu vực  →  Cho phép Check-in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709160" y="4773168"/>
            <a:ext cx="4114800" cy="292608"/>
          </a:xfrm>
          <a:prstGeom prst="rect">
            <a:avLst/>
          </a:prstGeom>
          <a:solidFill>
            <a:srgbClr val="450A0A"/>
          </a:solidFill>
          <a:ln w="12700">
            <a:solidFill>
              <a:srgbClr val="C4121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09160" y="477316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500m  →  🔴 Ngoài khu vực  →  Khóa nút Check-in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64008" cy="502920"/>
          </a:xfrm>
          <a:prstGeom prst="rect">
            <a:avLst/>
          </a:prstGeom>
          <a:solidFill>
            <a:srgbClr val="C41210"/>
          </a:solidFill>
          <a:ln w="12700">
            <a:solidFill>
              <a:srgbClr val="C4121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828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Chấm công GPS — Quy tắc nghiệp vụ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8580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Ngày thường vs Cuối tuần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2743200" cy="411480"/>
          </a:xfrm>
          <a:prstGeom prst="rect">
            <a:avLst/>
          </a:prstGeom>
          <a:solidFill>
            <a:srgbClr val="2A2A40"/>
          </a:solidFill>
          <a:ln w="12700">
            <a:solidFill>
              <a:srgbClr val="3A3A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144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Quy tắc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0" y="914400"/>
            <a:ext cx="2743200" cy="411480"/>
          </a:xfrm>
          <a:prstGeom prst="rect">
            <a:avLst/>
          </a:prstGeom>
          <a:solidFill>
            <a:srgbClr val="1A3A2A"/>
          </a:solidFill>
          <a:ln w="12700">
            <a:solidFill>
              <a:srgbClr val="3A3A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0" y="9144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Ngày thường (T2–T6)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943600" y="914400"/>
            <a:ext cx="2743200" cy="411480"/>
          </a:xfrm>
          <a:prstGeom prst="rect">
            <a:avLst/>
          </a:prstGeom>
          <a:solidFill>
            <a:srgbClr val="C41210"/>
          </a:solidFill>
          <a:ln w="12700">
            <a:solidFill>
              <a:srgbClr val="3A3A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0" y="9144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Cuối tuần (T7/CN)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1325880"/>
            <a:ext cx="2743200" cy="438912"/>
          </a:xfrm>
          <a:prstGeom prst="rect">
            <a:avLst/>
          </a:prstGeom>
          <a:solidFill>
            <a:srgbClr val="2A2A40"/>
          </a:solidFill>
          <a:ln w="12700">
            <a:solidFill>
              <a:srgbClr val="3A3A5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1325880"/>
            <a:ext cx="45720" cy="438912"/>
          </a:xfrm>
          <a:prstGeom prst="rect">
            <a:avLst/>
          </a:prstGeom>
          <a:solidFill>
            <a:srgbClr val="C41210"/>
          </a:solidFill>
          <a:ln w="12700">
            <a:solidFill>
              <a:srgbClr val="C4121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1325880"/>
            <a:ext cx="2633472" cy="43891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Giờ làm chuẩn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00400" y="1325880"/>
            <a:ext cx="2743200" cy="438912"/>
          </a:xfrm>
          <a:prstGeom prst="rect">
            <a:avLst/>
          </a:prstGeom>
          <a:solidFill>
            <a:srgbClr val="1E2A1E"/>
          </a:solidFill>
          <a:ln w="12700">
            <a:solidFill>
              <a:srgbClr val="3A3A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0" y="132588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08:00 – 17:00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943600" y="1325880"/>
            <a:ext cx="2743200" cy="438912"/>
          </a:xfrm>
          <a:prstGeom prst="rect">
            <a:avLst/>
          </a:prstGeom>
          <a:solidFill>
            <a:srgbClr val="1E1E2E"/>
          </a:solidFill>
          <a:ln w="12700">
            <a:solidFill>
              <a:srgbClr val="3A3A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0" y="132588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bắt buộc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1764792"/>
            <a:ext cx="2743200" cy="438912"/>
          </a:xfrm>
          <a:prstGeom prst="rect">
            <a:avLst/>
          </a:prstGeom>
          <a:solidFill>
            <a:srgbClr val="252535"/>
          </a:solidFill>
          <a:ln w="12700">
            <a:solidFill>
              <a:srgbClr val="3A3A5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1764792"/>
            <a:ext cx="45720" cy="438912"/>
          </a:xfrm>
          <a:prstGeom prst="rect">
            <a:avLst/>
          </a:prstGeom>
          <a:solidFill>
            <a:srgbClr val="C41210"/>
          </a:solidFill>
          <a:ln w="12700">
            <a:solidFill>
              <a:srgbClr val="C4121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1764792"/>
            <a:ext cx="2633472" cy="43891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Check-in trước 08:00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200400" y="1764792"/>
            <a:ext cx="2743200" cy="438912"/>
          </a:xfrm>
          <a:prstGeom prst="rect">
            <a:avLst/>
          </a:prstGeom>
          <a:solidFill>
            <a:srgbClr val="252535"/>
          </a:solidFill>
          <a:ln w="12700">
            <a:solidFill>
              <a:srgbClr val="3A3A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0" y="1764792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Đúng giờ (late = 0)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943600" y="1764792"/>
            <a:ext cx="2743200" cy="438912"/>
          </a:xfrm>
          <a:prstGeom prst="rect">
            <a:avLst/>
          </a:prstGeom>
          <a:solidFill>
            <a:srgbClr val="252535"/>
          </a:solidFill>
          <a:ln w="12700">
            <a:solidFill>
              <a:srgbClr val="3A3A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0" y="1764792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Toàn bộ giờ = OT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57200" y="2203704"/>
            <a:ext cx="2743200" cy="438912"/>
          </a:xfrm>
          <a:prstGeom prst="rect">
            <a:avLst/>
          </a:prstGeom>
          <a:solidFill>
            <a:srgbClr val="2A2A40"/>
          </a:solidFill>
          <a:ln w="12700">
            <a:solidFill>
              <a:srgbClr val="3A3A5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2203704"/>
            <a:ext cx="45720" cy="438912"/>
          </a:xfrm>
          <a:prstGeom prst="rect">
            <a:avLst/>
          </a:prstGeom>
          <a:solidFill>
            <a:srgbClr val="C41210"/>
          </a:solidFill>
          <a:ln w="12700">
            <a:solidFill>
              <a:srgbClr val="C4121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2203704"/>
            <a:ext cx="2633472" cy="43891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Check-in sau 08:00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200400" y="2203704"/>
            <a:ext cx="2743200" cy="438912"/>
          </a:xfrm>
          <a:prstGeom prst="rect">
            <a:avLst/>
          </a:prstGeom>
          <a:solidFill>
            <a:srgbClr val="1E2A1E"/>
          </a:solidFill>
          <a:ln w="12700">
            <a:solidFill>
              <a:srgbClr val="3A3A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0" y="2203704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 muộn (lateMin)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943600" y="2203704"/>
            <a:ext cx="2743200" cy="438912"/>
          </a:xfrm>
          <a:prstGeom prst="rect">
            <a:avLst/>
          </a:prstGeom>
          <a:solidFill>
            <a:srgbClr val="1E1E2E"/>
          </a:solidFill>
          <a:ln w="12700">
            <a:solidFill>
              <a:srgbClr val="3A3A5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43600" y="2203704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phạt, vẫn = OT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57200" y="2642616"/>
            <a:ext cx="2743200" cy="438912"/>
          </a:xfrm>
          <a:prstGeom prst="rect">
            <a:avLst/>
          </a:prstGeom>
          <a:solidFill>
            <a:srgbClr val="252535"/>
          </a:solidFill>
          <a:ln w="12700">
            <a:solidFill>
              <a:srgbClr val="3A3A5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7200" y="2642616"/>
            <a:ext cx="45720" cy="438912"/>
          </a:xfrm>
          <a:prstGeom prst="rect">
            <a:avLst/>
          </a:prstGeom>
          <a:solidFill>
            <a:srgbClr val="C41210"/>
          </a:solidFill>
          <a:ln w="12700">
            <a:solidFill>
              <a:srgbClr val="C4121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6928" y="2642616"/>
            <a:ext cx="2633472" cy="43891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Check-out trước 17:00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3200400" y="2642616"/>
            <a:ext cx="2743200" cy="438912"/>
          </a:xfrm>
          <a:prstGeom prst="rect">
            <a:avLst/>
          </a:prstGeom>
          <a:solidFill>
            <a:srgbClr val="252535"/>
          </a:solidFill>
          <a:ln w="12700">
            <a:solidFill>
              <a:srgbClr val="3A3A5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00400" y="2642616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Về sớm (earlyMin)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943600" y="2642616"/>
            <a:ext cx="2743200" cy="438912"/>
          </a:xfrm>
          <a:prstGeom prst="rect">
            <a:avLst/>
          </a:prstGeom>
          <a:solidFill>
            <a:srgbClr val="252535"/>
          </a:solidFill>
          <a:ln w="12700">
            <a:solidFill>
              <a:srgbClr val="3A3A5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943600" y="2642616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 = tổng giờ làm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57200" y="3081528"/>
            <a:ext cx="2743200" cy="438912"/>
          </a:xfrm>
          <a:prstGeom prst="rect">
            <a:avLst/>
          </a:prstGeom>
          <a:solidFill>
            <a:srgbClr val="2A2A40"/>
          </a:solidFill>
          <a:ln w="12700">
            <a:solidFill>
              <a:srgbClr val="3A3A5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57200" y="3081528"/>
            <a:ext cx="45720" cy="438912"/>
          </a:xfrm>
          <a:prstGeom prst="rect">
            <a:avLst/>
          </a:prstGeom>
          <a:solidFill>
            <a:srgbClr val="C41210"/>
          </a:solidFill>
          <a:ln w="12700">
            <a:solidFill>
              <a:srgbClr val="C4121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66928" y="3081528"/>
            <a:ext cx="2633472" cy="43891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Check-out sau 17:00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3200400" y="3081528"/>
            <a:ext cx="2743200" cy="438912"/>
          </a:xfrm>
          <a:prstGeom prst="rect">
            <a:avLst/>
          </a:prstGeom>
          <a:solidFill>
            <a:srgbClr val="1E2A1E"/>
          </a:solidFill>
          <a:ln w="12700">
            <a:solidFill>
              <a:srgbClr val="3A3A5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200400" y="3081528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 = (CO−17:00) ×1.5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5943600" y="3081528"/>
            <a:ext cx="2743200" cy="438912"/>
          </a:xfrm>
          <a:prstGeom prst="rect">
            <a:avLst/>
          </a:prstGeom>
          <a:solidFill>
            <a:srgbClr val="1E1E2E"/>
          </a:solidFill>
          <a:ln w="12700">
            <a:solidFill>
              <a:srgbClr val="3A3A5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943600" y="3081528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 = tổng giờ × 2.0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457200" y="3520440"/>
            <a:ext cx="2743200" cy="438912"/>
          </a:xfrm>
          <a:prstGeom prst="rect">
            <a:avLst/>
          </a:prstGeom>
          <a:solidFill>
            <a:srgbClr val="252535"/>
          </a:solidFill>
          <a:ln w="12700">
            <a:solidFill>
              <a:srgbClr val="3A3A55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57200" y="3520440"/>
            <a:ext cx="45720" cy="438912"/>
          </a:xfrm>
          <a:prstGeom prst="rect">
            <a:avLst/>
          </a:prstGeom>
          <a:solidFill>
            <a:srgbClr val="C41210"/>
          </a:solidFill>
          <a:ln w="12700">
            <a:solidFill>
              <a:srgbClr val="C4121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66928" y="3520440"/>
            <a:ext cx="2633472" cy="43891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Phạt đi muộn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3200400" y="3520440"/>
            <a:ext cx="2743200" cy="438912"/>
          </a:xfrm>
          <a:prstGeom prst="rect">
            <a:avLst/>
          </a:prstGeom>
          <a:solidFill>
            <a:srgbClr val="252535"/>
          </a:solidFill>
          <a:ln w="12700">
            <a:solidFill>
              <a:srgbClr val="3A3A5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200400" y="352044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 (trừ chấm công)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5943600" y="3520440"/>
            <a:ext cx="2743200" cy="438912"/>
          </a:xfrm>
          <a:prstGeom prst="rect">
            <a:avLst/>
          </a:prstGeom>
          <a:solidFill>
            <a:srgbClr val="252535"/>
          </a:solidFill>
          <a:ln w="12700">
            <a:solidFill>
              <a:srgbClr val="3A3A5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943600" y="352044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Không phạt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457200" y="3959352"/>
            <a:ext cx="2743200" cy="438912"/>
          </a:xfrm>
          <a:prstGeom prst="rect">
            <a:avLst/>
          </a:prstGeom>
          <a:solidFill>
            <a:srgbClr val="2A2A40"/>
          </a:solidFill>
          <a:ln w="12700">
            <a:solidFill>
              <a:srgbClr val="3A3A55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57200" y="3959352"/>
            <a:ext cx="45720" cy="438912"/>
          </a:xfrm>
          <a:prstGeom prst="rect">
            <a:avLst/>
          </a:prstGeom>
          <a:solidFill>
            <a:srgbClr val="C41210"/>
          </a:solidFill>
          <a:ln w="12700">
            <a:solidFill>
              <a:srgbClr val="C4121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66928" y="3959352"/>
            <a:ext cx="2633472" cy="43891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Bán kính GPS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3200400" y="3959352"/>
            <a:ext cx="2743200" cy="438912"/>
          </a:xfrm>
          <a:prstGeom prst="rect">
            <a:avLst/>
          </a:prstGeom>
          <a:solidFill>
            <a:srgbClr val="1E2A1E"/>
          </a:solidFill>
          <a:ln w="12700">
            <a:solidFill>
              <a:srgbClr val="3A3A55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200400" y="3959352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500m (Haversine)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5943600" y="3959352"/>
            <a:ext cx="2743200" cy="438912"/>
          </a:xfrm>
          <a:prstGeom prst="rect">
            <a:avLst/>
          </a:prstGeom>
          <a:solidFill>
            <a:srgbClr val="1E1E2E"/>
          </a:solidFill>
          <a:ln w="12700">
            <a:solidFill>
              <a:srgbClr val="3A3A55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943600" y="3959352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500m (Haversine)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457200" y="4398264"/>
            <a:ext cx="2743200" cy="438912"/>
          </a:xfrm>
          <a:prstGeom prst="rect">
            <a:avLst/>
          </a:prstGeom>
          <a:solidFill>
            <a:srgbClr val="252535"/>
          </a:solidFill>
          <a:ln w="12700">
            <a:solidFill>
              <a:srgbClr val="3A3A55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57200" y="4398264"/>
            <a:ext cx="45720" cy="438912"/>
          </a:xfrm>
          <a:prstGeom prst="rect">
            <a:avLst/>
          </a:prstGeom>
          <a:solidFill>
            <a:srgbClr val="C41210"/>
          </a:solidFill>
          <a:ln w="12700">
            <a:solidFill>
              <a:srgbClr val="C4121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66928" y="4398264"/>
            <a:ext cx="2633472" cy="43891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Trạng thái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3200400" y="4398264"/>
            <a:ext cx="2743200" cy="438912"/>
          </a:xfrm>
          <a:prstGeom prst="rect">
            <a:avLst/>
          </a:prstGeom>
          <a:solidFill>
            <a:srgbClr val="252535"/>
          </a:solidFill>
          <a:ln w="12700">
            <a:solidFill>
              <a:srgbClr val="3A3A55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200400" y="4398264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"Đi làm" / "Đi muộn"</a:t>
            </a:r>
            <a:endParaRPr lang="en-US" sz="1050" dirty="0"/>
          </a:p>
        </p:txBody>
      </p:sp>
      <p:sp>
        <p:nvSpPr>
          <p:cNvPr id="65" name="Shape 63"/>
          <p:cNvSpPr/>
          <p:nvPr/>
        </p:nvSpPr>
        <p:spPr>
          <a:xfrm>
            <a:off x="5943600" y="4398264"/>
            <a:ext cx="2743200" cy="438912"/>
          </a:xfrm>
          <a:prstGeom prst="rect">
            <a:avLst/>
          </a:prstGeom>
          <a:solidFill>
            <a:srgbClr val="252535"/>
          </a:solidFill>
          <a:ln w="12700">
            <a:solidFill>
              <a:srgbClr val="3A3A55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943600" y="4398264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"Đi làm" (OT cuối tuần)</a:t>
            </a:r>
            <a:endParaRPr lang="en-US" sz="1050" dirty="0"/>
          </a:p>
        </p:txBody>
      </p:sp>
      <p:sp>
        <p:nvSpPr>
          <p:cNvPr id="67" name="Shape 65"/>
          <p:cNvSpPr/>
          <p:nvPr/>
        </p:nvSpPr>
        <p:spPr>
          <a:xfrm>
            <a:off x="457200" y="4773168"/>
            <a:ext cx="8229600" cy="292608"/>
          </a:xfrm>
          <a:prstGeom prst="rect">
            <a:avLst/>
          </a:prstGeom>
          <a:solidFill>
            <a:srgbClr val="1A1A38"/>
          </a:solidFill>
          <a:ln w="12700">
            <a:solidFill>
              <a:srgbClr val="5A67D8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57200" y="47731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Hệ thống tự phân biệt ngày thường vs cuối tuần — Nhân viên không cần chọn loại ngày khi check-in.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64008" cy="502920"/>
          </a:xfrm>
          <a:prstGeom prst="rect">
            <a:avLst/>
          </a:prstGeom>
          <a:solidFill>
            <a:srgbClr val="C41210"/>
          </a:solidFill>
          <a:ln w="12700">
            <a:solidFill>
              <a:srgbClr val="C4121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828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Giao diện — Desktop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8580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App Router · Responsive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4160520" cy="3291840"/>
          </a:xfrm>
          <a:prstGeom prst="rect">
            <a:avLst/>
          </a:prstGeom>
          <a:solidFill>
            <a:srgbClr val="2D2D42"/>
          </a:solidFill>
          <a:ln w="6350">
            <a:solidFill>
              <a:srgbClr val="3A3A5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93192" y="987552"/>
            <a:ext cx="4014216" cy="2158876"/>
          </a:xfrm>
          <a:prstGeom prst="rect">
            <a:avLst/>
          </a:prstGeom>
          <a:solidFill>
            <a:srgbClr val="181825"/>
          </a:solidFill>
          <a:ln w="12700">
            <a:solidFill>
              <a:srgbClr val="3A3A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93192" y="1134174"/>
            <a:ext cx="4014216" cy="256032"/>
          </a:xfrm>
          <a:prstGeom prst="rect">
            <a:avLst/>
          </a:prstGeom>
          <a:solidFill>
            <a:srgbClr val="1E1E2E"/>
          </a:solidFill>
          <a:ln w="12700">
            <a:solidFill>
              <a:srgbClr val="3A3A5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4632" y="1198182"/>
            <a:ext cx="128016" cy="128016"/>
          </a:xfrm>
          <a:prstGeom prst="line">
            <a:avLst/>
          </a:prstGeom>
          <a:solidFill>
            <a:srgbClr val="C41210"/>
          </a:solidFill>
          <a:ln w="12700">
            <a:solidFill>
              <a:srgbClr val="C4121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12299" y="1199277"/>
            <a:ext cx="128016" cy="128016"/>
          </a:xfrm>
          <a:prstGeom prst="lin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50976" y="1185319"/>
            <a:ext cx="128016" cy="128016"/>
          </a:xfrm>
          <a:prstGeom prst="lin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3192" y="1243584"/>
            <a:ext cx="4014216" cy="21214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A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[Screenshot thực tế]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0040" y="342900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Admin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0040" y="3794760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Dashboard theo vai trò · Biểu đồ Recharts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0040" y="4434840"/>
            <a:ext cx="2011680" cy="475488"/>
          </a:xfrm>
          <a:prstGeom prst="rect">
            <a:avLst/>
          </a:prstGeom>
          <a:solidFill>
            <a:srgbClr val="2D2D42"/>
          </a:solidFill>
          <a:ln w="12700">
            <a:solidFill>
              <a:srgbClr val="3A3A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443484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trang React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468880" y="4434840"/>
            <a:ext cx="2011680" cy="475488"/>
          </a:xfrm>
          <a:prstGeom prst="rect">
            <a:avLst/>
          </a:prstGeom>
          <a:solidFill>
            <a:srgbClr val="2D2D42"/>
          </a:solidFill>
          <a:ln w="12700">
            <a:solidFill>
              <a:srgbClr val="3A3A5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468880" y="443484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Layout khác nhau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617720" y="4434840"/>
            <a:ext cx="2011680" cy="475488"/>
          </a:xfrm>
          <a:prstGeom prst="rect">
            <a:avLst/>
          </a:prstGeom>
          <a:solidFill>
            <a:srgbClr val="2D2D42"/>
          </a:solidFill>
          <a:ln w="12700">
            <a:solidFill>
              <a:srgbClr val="3A3A5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17720" y="443484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Mode </a:t>
            </a:r>
            <a:r>
              <a:rPr lang="en-US" sz="1100" dirty="0" smtClean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☀️/</a:t>
            </a:r>
            <a:r>
              <a:rPr lang="en-US" sz="110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🌙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766560" y="4434840"/>
            <a:ext cx="2011680" cy="475488"/>
          </a:xfrm>
          <a:prstGeom prst="rect">
            <a:avLst/>
          </a:prstGeom>
          <a:solidFill>
            <a:srgbClr val="2D2D42"/>
          </a:solidFill>
          <a:ln w="12700">
            <a:solidFill>
              <a:srgbClr val="3A3A5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66560" y="443484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Song ngữ VI/EN 🇻🇳/🇬🇧</a:t>
            </a:r>
            <a:endParaRPr lang="en-US" sz="1100" dirty="0"/>
          </a:p>
        </p:txBody>
      </p:sp>
      <p:pic>
        <p:nvPicPr>
          <p:cNvPr id="31" name="Picture 3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" y="1407318"/>
            <a:ext cx="4014216" cy="1899130"/>
          </a:xfrm>
          <a:prstGeom prst="rect">
            <a:avLst/>
          </a:prstGeom>
        </p:spPr>
      </p:pic>
      <p:sp>
        <p:nvSpPr>
          <p:cNvPr id="42" name="Shape 3"/>
          <p:cNvSpPr/>
          <p:nvPr/>
        </p:nvSpPr>
        <p:spPr>
          <a:xfrm>
            <a:off x="4619108" y="914400"/>
            <a:ext cx="4160520" cy="3291840"/>
          </a:xfrm>
          <a:prstGeom prst="rect">
            <a:avLst/>
          </a:prstGeom>
          <a:solidFill>
            <a:srgbClr val="2D2D42"/>
          </a:solidFill>
          <a:ln w="6350">
            <a:solidFill>
              <a:srgbClr val="3A3A5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3" name="Shape 4"/>
          <p:cNvSpPr/>
          <p:nvPr/>
        </p:nvSpPr>
        <p:spPr>
          <a:xfrm>
            <a:off x="4692260" y="987552"/>
            <a:ext cx="4014216" cy="2158876"/>
          </a:xfrm>
          <a:prstGeom prst="rect">
            <a:avLst/>
          </a:prstGeom>
          <a:solidFill>
            <a:srgbClr val="181825"/>
          </a:solidFill>
          <a:ln w="12700">
            <a:solidFill>
              <a:srgbClr val="3A3A55"/>
            </a:solidFill>
            <a:prstDash val="solid"/>
          </a:ln>
        </p:spPr>
      </p:sp>
      <p:sp>
        <p:nvSpPr>
          <p:cNvPr id="44" name="Shape 5"/>
          <p:cNvSpPr/>
          <p:nvPr/>
        </p:nvSpPr>
        <p:spPr>
          <a:xfrm>
            <a:off x="4692260" y="1134174"/>
            <a:ext cx="4014216" cy="256032"/>
          </a:xfrm>
          <a:prstGeom prst="rect">
            <a:avLst/>
          </a:prstGeom>
          <a:solidFill>
            <a:srgbClr val="1E1E2E"/>
          </a:solidFill>
          <a:ln w="12700">
            <a:solidFill>
              <a:srgbClr val="3A3A55"/>
            </a:solidFill>
            <a:prstDash val="solid"/>
          </a:ln>
        </p:spPr>
      </p:sp>
      <p:sp>
        <p:nvSpPr>
          <p:cNvPr id="45" name="Shape 6"/>
          <p:cNvSpPr/>
          <p:nvPr/>
        </p:nvSpPr>
        <p:spPr>
          <a:xfrm>
            <a:off x="4783700" y="1198182"/>
            <a:ext cx="128016" cy="128016"/>
          </a:xfrm>
          <a:prstGeom prst="line">
            <a:avLst/>
          </a:prstGeom>
          <a:solidFill>
            <a:srgbClr val="C41210"/>
          </a:solidFill>
          <a:ln w="12700">
            <a:solidFill>
              <a:srgbClr val="C41210"/>
            </a:solidFill>
            <a:prstDash val="solid"/>
          </a:ln>
        </p:spPr>
      </p:sp>
      <p:sp>
        <p:nvSpPr>
          <p:cNvPr id="46" name="Shape 7"/>
          <p:cNvSpPr/>
          <p:nvPr/>
        </p:nvSpPr>
        <p:spPr>
          <a:xfrm>
            <a:off x="5011367" y="1199277"/>
            <a:ext cx="128016" cy="128016"/>
          </a:xfrm>
          <a:prstGeom prst="lin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7" name="Shape 8"/>
          <p:cNvSpPr/>
          <p:nvPr/>
        </p:nvSpPr>
        <p:spPr>
          <a:xfrm>
            <a:off x="5250044" y="1185319"/>
            <a:ext cx="128016" cy="128016"/>
          </a:xfrm>
          <a:prstGeom prst="lin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8" name="Text 9"/>
          <p:cNvSpPr/>
          <p:nvPr/>
        </p:nvSpPr>
        <p:spPr>
          <a:xfrm>
            <a:off x="4692260" y="1243584"/>
            <a:ext cx="4014216" cy="21214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A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[Screenshot thực tế]</a:t>
            </a:r>
            <a:endParaRPr lang="en-US" sz="1300" dirty="0"/>
          </a:p>
        </p:txBody>
      </p:sp>
      <p:sp>
        <p:nvSpPr>
          <p:cNvPr id="49" name="Text 10"/>
          <p:cNvSpPr/>
          <p:nvPr/>
        </p:nvSpPr>
        <p:spPr>
          <a:xfrm>
            <a:off x="4619108" y="342900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Danh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sách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Nhân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viên</a:t>
            </a:r>
            <a:endParaRPr lang="en-US" sz="1300" dirty="0"/>
          </a:p>
        </p:txBody>
      </p:sp>
      <p:sp>
        <p:nvSpPr>
          <p:cNvPr id="50" name="Text 11"/>
          <p:cNvSpPr/>
          <p:nvPr/>
        </p:nvSpPr>
        <p:spPr>
          <a:xfrm>
            <a:off x="4619108" y="3794760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· Search · Filter · </a:t>
            </a:r>
            <a:r>
              <a:rPr lang="en-US" sz="1000" dirty="0" err="1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</a:t>
            </a:r>
            <a:r>
              <a:rPr lang="en-US" sz="10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trang</a:t>
            </a:r>
            <a:endParaRPr lang="en-US" sz="1000" dirty="0"/>
          </a:p>
        </p:txBody>
      </p:sp>
      <p:pic>
        <p:nvPicPr>
          <p:cNvPr id="52" name="Picture 5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2260" y="1407318"/>
            <a:ext cx="4014216" cy="192775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64008" cy="502920"/>
          </a:xfrm>
          <a:prstGeom prst="rect">
            <a:avLst/>
          </a:prstGeom>
          <a:solidFill>
            <a:srgbClr val="C41210"/>
          </a:solidFill>
          <a:ln w="12700">
            <a:solidFill>
              <a:srgbClr val="C4121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828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Giao diện — Mobile + PWA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8580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Design · Progressive Web App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2651760" cy="3488186"/>
          </a:xfrm>
          <a:prstGeom prst="rect">
            <a:avLst/>
          </a:prstGeom>
          <a:solidFill>
            <a:srgbClr val="2D2D42"/>
          </a:solidFill>
          <a:ln w="6350">
            <a:solidFill>
              <a:srgbClr val="3A3A5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969264"/>
            <a:ext cx="1828800" cy="2678692"/>
          </a:xfrm>
          <a:prstGeom prst="rect">
            <a:avLst/>
          </a:prstGeom>
          <a:solidFill>
            <a:srgbClr val="181825"/>
          </a:solidFill>
          <a:ln w="19050">
            <a:solidFill>
              <a:srgbClr val="5A5A7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1115568"/>
            <a:ext cx="1737360" cy="1737360"/>
          </a:xfrm>
          <a:prstGeom prst="rect">
            <a:avLst/>
          </a:prstGeom>
          <a:solidFill>
            <a:srgbClr val="1E1E2E"/>
          </a:solidFill>
          <a:ln w="12700">
            <a:solidFill>
              <a:srgbClr val="3A3A5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2852928"/>
            <a:ext cx="1737360" cy="754630"/>
          </a:xfrm>
          <a:prstGeom prst="rect">
            <a:avLst/>
          </a:prstGeom>
          <a:solidFill>
            <a:srgbClr val="2D2D42"/>
          </a:solidFill>
          <a:ln w="12700">
            <a:solidFill>
              <a:srgbClr val="3A3A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115568"/>
            <a:ext cx="17373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A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[mock]</a:t>
            </a:r>
            <a:endParaRPr lang="en-US" sz="10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3711964"/>
            <a:ext cx="457200" cy="4572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320040" y="411912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Navigation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20040" y="4402586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tabs thay sidebar trên mobile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3200400" y="914400"/>
            <a:ext cx="2651760" cy="3488186"/>
          </a:xfrm>
          <a:prstGeom prst="rect">
            <a:avLst/>
          </a:prstGeom>
          <a:solidFill>
            <a:srgbClr val="2D2D42"/>
          </a:solidFill>
          <a:ln w="6350">
            <a:solidFill>
              <a:srgbClr val="3A3A5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611880" y="969264"/>
            <a:ext cx="1828800" cy="2678691"/>
          </a:xfrm>
          <a:prstGeom prst="rect">
            <a:avLst/>
          </a:prstGeom>
          <a:solidFill>
            <a:srgbClr val="181825"/>
          </a:solidFill>
          <a:ln w="19050">
            <a:solidFill>
              <a:srgbClr val="5A5A7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657600" y="1115568"/>
            <a:ext cx="1737360" cy="1737360"/>
          </a:xfrm>
          <a:prstGeom prst="rect">
            <a:avLst/>
          </a:prstGeom>
          <a:solidFill>
            <a:srgbClr val="1E1E2E"/>
          </a:solidFill>
          <a:ln w="12700">
            <a:solidFill>
              <a:srgbClr val="3A3A55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657600" y="2852928"/>
            <a:ext cx="1737360" cy="347472"/>
          </a:xfrm>
          <a:prstGeom prst="rect">
            <a:avLst/>
          </a:prstGeom>
          <a:solidFill>
            <a:srgbClr val="2D2D42"/>
          </a:solidFill>
          <a:ln w="12700">
            <a:solidFill>
              <a:srgbClr val="3A3A5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657600" y="1115568"/>
            <a:ext cx="17373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A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[mock]</a:t>
            </a:r>
            <a:endParaRPr lang="en-US" sz="1000" dirty="0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1960" y="3711964"/>
            <a:ext cx="457200" cy="45720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199035" y="411455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Mode + EN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3199945" y="437083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 ☀️/🌙 + 🇻🇳/🇬🇧 trên header</a:t>
            </a:r>
            <a:endParaRPr lang="en-US" sz="950" dirty="0"/>
          </a:p>
        </p:txBody>
      </p:sp>
      <p:sp>
        <p:nvSpPr>
          <p:cNvPr id="21" name="Shape 17"/>
          <p:cNvSpPr/>
          <p:nvPr/>
        </p:nvSpPr>
        <p:spPr>
          <a:xfrm>
            <a:off x="6080760" y="914400"/>
            <a:ext cx="2651760" cy="3488186"/>
          </a:xfrm>
          <a:prstGeom prst="rect">
            <a:avLst/>
          </a:prstGeom>
          <a:solidFill>
            <a:srgbClr val="2D2D42"/>
          </a:solidFill>
          <a:ln w="6350">
            <a:solidFill>
              <a:srgbClr val="3A3A5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6492240" y="969264"/>
            <a:ext cx="1828800" cy="2678692"/>
          </a:xfrm>
          <a:prstGeom prst="rect">
            <a:avLst/>
          </a:prstGeom>
          <a:solidFill>
            <a:srgbClr val="181825"/>
          </a:solidFill>
          <a:ln w="19050">
            <a:solidFill>
              <a:srgbClr val="5A5A7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6537960" y="1115568"/>
            <a:ext cx="1737360" cy="1737360"/>
          </a:xfrm>
          <a:prstGeom prst="rect">
            <a:avLst/>
          </a:prstGeom>
          <a:solidFill>
            <a:srgbClr val="1E1E2E"/>
          </a:solidFill>
          <a:ln w="12700">
            <a:solidFill>
              <a:srgbClr val="3A3A55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6537960" y="2852928"/>
            <a:ext cx="1737360" cy="347472"/>
          </a:xfrm>
          <a:prstGeom prst="rect">
            <a:avLst/>
          </a:prstGeom>
          <a:solidFill>
            <a:srgbClr val="2D2D42"/>
          </a:solidFill>
          <a:ln w="12700">
            <a:solidFill>
              <a:srgbClr val="3A3A55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6537960" y="1115568"/>
            <a:ext cx="17373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A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[mock]</a:t>
            </a:r>
            <a:endParaRPr lang="en-US" sz="1000" dirty="0"/>
          </a:p>
        </p:txBody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5310" y="3711964"/>
            <a:ext cx="457200" cy="45720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6078030" y="4121829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 Install</a:t>
            </a:r>
            <a:endParaRPr lang="en-US" sz="1200" dirty="0"/>
          </a:p>
        </p:txBody>
      </p:sp>
      <p:sp>
        <p:nvSpPr>
          <p:cNvPr id="28" name="Text 23"/>
          <p:cNvSpPr/>
          <p:nvPr/>
        </p:nvSpPr>
        <p:spPr>
          <a:xfrm>
            <a:off x="6079850" y="4398264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Cài như app native, icon Home Screen</a:t>
            </a:r>
            <a:endParaRPr lang="en-US" sz="950" dirty="0"/>
          </a:p>
        </p:txBody>
      </p:sp>
      <p:sp>
        <p:nvSpPr>
          <p:cNvPr id="29" name="Shape 24"/>
          <p:cNvSpPr/>
          <p:nvPr/>
        </p:nvSpPr>
        <p:spPr>
          <a:xfrm>
            <a:off x="320040" y="4645152"/>
            <a:ext cx="2651760" cy="347472"/>
          </a:xfrm>
          <a:prstGeom prst="rect">
            <a:avLst/>
          </a:prstGeom>
          <a:solidFill>
            <a:srgbClr val="2D2D42"/>
          </a:solidFill>
          <a:ln w="12700">
            <a:solidFill>
              <a:srgbClr val="3A3A55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320040" y="464515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 ≥1024px</a:t>
            </a:r>
            <a:endParaRPr lang="en-US" sz="1000" dirty="0"/>
          </a:p>
        </p:txBody>
      </p:sp>
      <p:sp>
        <p:nvSpPr>
          <p:cNvPr id="31" name="Shape 26"/>
          <p:cNvSpPr/>
          <p:nvPr/>
        </p:nvSpPr>
        <p:spPr>
          <a:xfrm>
            <a:off x="3200400" y="4645152"/>
            <a:ext cx="2651760" cy="347472"/>
          </a:xfrm>
          <a:prstGeom prst="rect">
            <a:avLst/>
          </a:prstGeom>
          <a:solidFill>
            <a:srgbClr val="2D2D42"/>
          </a:solidFill>
          <a:ln w="12700">
            <a:solidFill>
              <a:srgbClr val="3A3A55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3200400" y="464515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Tablet 768px</a:t>
            </a:r>
            <a:endParaRPr lang="en-US" sz="1000" dirty="0"/>
          </a:p>
        </p:txBody>
      </p:sp>
      <p:sp>
        <p:nvSpPr>
          <p:cNvPr id="33" name="Shape 28"/>
          <p:cNvSpPr/>
          <p:nvPr/>
        </p:nvSpPr>
        <p:spPr>
          <a:xfrm>
            <a:off x="6080760" y="4645152"/>
            <a:ext cx="2651760" cy="347472"/>
          </a:xfrm>
          <a:prstGeom prst="rect">
            <a:avLst/>
          </a:prstGeom>
          <a:solidFill>
            <a:srgbClr val="2D2D42"/>
          </a:solidFill>
          <a:ln w="12700">
            <a:solidFill>
              <a:srgbClr val="3A3A55"/>
            </a:solidFill>
            <a:prstDash val="solid"/>
          </a:ln>
        </p:spPr>
      </p:sp>
      <p:sp>
        <p:nvSpPr>
          <p:cNvPr id="34" name="Text 29"/>
          <p:cNvSpPr/>
          <p:nvPr/>
        </p:nvSpPr>
        <p:spPr>
          <a:xfrm>
            <a:off x="6080760" y="464515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≤640px</a:t>
            </a:r>
            <a:endParaRPr lang="en-US" sz="1000" dirty="0"/>
          </a:p>
        </p:txBody>
      </p:sp>
      <p:pic>
        <p:nvPicPr>
          <p:cNvPr id="35" name="Picture 34"/>
          <p:cNvPicPr>
            <a:picLocks noChangeAspect="1"/>
          </p:cNvPicPr>
          <p:nvPr/>
        </p:nvPicPr>
        <p:blipFill rotWithShape="1">
          <a:blip r:embed="rId6"/>
          <a:srcRect t="5762"/>
          <a:stretch/>
        </p:blipFill>
        <p:spPr>
          <a:xfrm>
            <a:off x="751195" y="969264"/>
            <a:ext cx="1789449" cy="2678692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/>
        </p:nvPicPr>
        <p:blipFill rotWithShape="1">
          <a:blip r:embed="rId7"/>
          <a:srcRect t="5865"/>
          <a:stretch/>
        </p:blipFill>
        <p:spPr>
          <a:xfrm>
            <a:off x="3635194" y="969264"/>
            <a:ext cx="1779424" cy="2678692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15229" y="969264"/>
            <a:ext cx="1806266" cy="267598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64008" cy="502920"/>
          </a:xfrm>
          <a:prstGeom prst="rect">
            <a:avLst/>
          </a:prstGeom>
          <a:solidFill>
            <a:srgbClr val="C41210"/>
          </a:solidFill>
          <a:ln w="12700">
            <a:solidFill>
              <a:srgbClr val="C4121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828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Tính năng nổi bật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8580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điểm khác biệt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2743200" cy="1664208"/>
          </a:xfrm>
          <a:prstGeom prst="rect">
            <a:avLst/>
          </a:prstGeom>
          <a:solidFill>
            <a:srgbClr val="2D2D42"/>
          </a:solidFill>
          <a:ln w="6350">
            <a:solidFill>
              <a:srgbClr val="3A3A5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914400"/>
            <a:ext cx="274320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115568"/>
            <a:ext cx="530352" cy="530352"/>
          </a:xfrm>
          <a:prstGeom prst="line">
            <a:avLst/>
          </a:prstGeom>
          <a:solidFill>
            <a:srgbClr val="000000"/>
          </a:solidFill>
          <a:ln w="12700">
            <a:solidFill>
              <a:srgbClr val="3B82F6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" y="1188720"/>
            <a:ext cx="384048" cy="38404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24712" y="1115568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Song ngữ VI / EN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29768" y="1682496"/>
            <a:ext cx="2542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 cờ 🇻🇳/🇬🇧 — toàn bộ UI + biểu đồ + PDF đều dịch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246120" y="914400"/>
            <a:ext cx="2743200" cy="1664208"/>
          </a:xfrm>
          <a:prstGeom prst="rect">
            <a:avLst/>
          </a:prstGeom>
          <a:solidFill>
            <a:srgbClr val="2D2D42"/>
          </a:solidFill>
          <a:ln w="6350">
            <a:solidFill>
              <a:srgbClr val="3A3A5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46120" y="914400"/>
            <a:ext cx="274320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383280" y="1115568"/>
            <a:ext cx="530352" cy="530352"/>
          </a:xfrm>
          <a:prstGeom prst="line">
            <a:avLst/>
          </a:prstGeom>
          <a:solidFill>
            <a:srgbClr val="000000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7288" y="1188720"/>
            <a:ext cx="384048" cy="38404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050792" y="1115568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Mode / Light Mode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3355848" y="1682496"/>
            <a:ext cx="2542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 ☀️/🌙 — sidebar, cards, biểu đồ, tables đều hỗ trợ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6172200" y="914400"/>
            <a:ext cx="2743200" cy="1664208"/>
          </a:xfrm>
          <a:prstGeom prst="rect">
            <a:avLst/>
          </a:prstGeom>
          <a:solidFill>
            <a:srgbClr val="2D2D42"/>
          </a:solidFill>
          <a:ln w="6350">
            <a:solidFill>
              <a:srgbClr val="3A3A5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172200" y="914400"/>
            <a:ext cx="27432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309360" y="1115568"/>
            <a:ext cx="530352" cy="530352"/>
          </a:xfrm>
          <a:prstGeom prst="line">
            <a:avLst/>
          </a:prstGeom>
          <a:solidFill>
            <a:srgbClr val="000000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3368" y="1188720"/>
            <a:ext cx="384048" cy="38404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976872" y="1115568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Quên mật khẩu + Setup Email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281928" y="1682496"/>
            <a:ext cx="2542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 SMTP gửi mật khẩu tạm — bắt buộc setup lần đầu đăng nhập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320040" y="2788920"/>
            <a:ext cx="2743200" cy="1664208"/>
          </a:xfrm>
          <a:prstGeom prst="rect">
            <a:avLst/>
          </a:prstGeom>
          <a:solidFill>
            <a:srgbClr val="2D2D42"/>
          </a:solidFill>
          <a:ln w="6350">
            <a:solidFill>
              <a:srgbClr val="3A3A5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320040" y="2788920"/>
            <a:ext cx="2743200" cy="54864"/>
          </a:xfrm>
          <a:prstGeom prst="rect">
            <a:avLst/>
          </a:prstGeom>
          <a:solidFill>
            <a:srgbClr val="C41210"/>
          </a:solidFill>
          <a:ln w="12700">
            <a:solidFill>
              <a:srgbClr val="C41210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457200" y="2990088"/>
            <a:ext cx="530352" cy="530352"/>
          </a:xfrm>
          <a:prstGeom prst="line">
            <a:avLst/>
          </a:prstGeom>
          <a:solidFill>
            <a:srgbClr val="000000"/>
          </a:solidFill>
          <a:ln w="12700">
            <a:solidFill>
              <a:srgbClr val="C41210"/>
            </a:solidFill>
            <a:prstDash val="solid"/>
          </a:ln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1208" y="3063240"/>
            <a:ext cx="384048" cy="384048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124712" y="2990088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PDF + Excel</a:t>
            </a:r>
            <a:endParaRPr lang="en-US" sz="1150" dirty="0"/>
          </a:p>
        </p:txBody>
      </p:sp>
      <p:sp>
        <p:nvSpPr>
          <p:cNvPr id="28" name="Text 22"/>
          <p:cNvSpPr/>
          <p:nvPr/>
        </p:nvSpPr>
        <p:spPr>
          <a:xfrm>
            <a:off x="429768" y="3557016"/>
            <a:ext cx="2542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@react-pdf/renderer phiếu lương + exceljs báo cáo chi tiết</a:t>
            </a:r>
            <a:endParaRPr lang="en-US" sz="1000" dirty="0"/>
          </a:p>
        </p:txBody>
      </p:sp>
      <p:sp>
        <p:nvSpPr>
          <p:cNvPr id="29" name="Shape 23"/>
          <p:cNvSpPr/>
          <p:nvPr/>
        </p:nvSpPr>
        <p:spPr>
          <a:xfrm>
            <a:off x="3246120" y="2788920"/>
            <a:ext cx="2743200" cy="1664208"/>
          </a:xfrm>
          <a:prstGeom prst="rect">
            <a:avLst/>
          </a:prstGeom>
          <a:solidFill>
            <a:srgbClr val="2D2D42"/>
          </a:solidFill>
          <a:ln w="6350">
            <a:solidFill>
              <a:srgbClr val="3A3A5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3246120" y="2788920"/>
            <a:ext cx="2743200" cy="548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3383280" y="2990088"/>
            <a:ext cx="530352" cy="530352"/>
          </a:xfrm>
          <a:prstGeom prst="line">
            <a:avLst/>
          </a:prstGeom>
          <a:solidFill>
            <a:srgbClr val="000000"/>
          </a:solidFill>
          <a:ln w="12700">
            <a:solidFill>
              <a:srgbClr val="22C55E"/>
            </a:solidFill>
            <a:prstDash val="solid"/>
          </a:ln>
        </p:spPr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47288" y="3063240"/>
            <a:ext cx="384048" cy="384048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4050792" y="2990088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Chấm công GPS</a:t>
            </a:r>
            <a:endParaRPr lang="en-US" sz="1150" dirty="0"/>
          </a:p>
        </p:txBody>
      </p:sp>
      <p:sp>
        <p:nvSpPr>
          <p:cNvPr id="34" name="Text 27"/>
          <p:cNvSpPr/>
          <p:nvPr/>
        </p:nvSpPr>
        <p:spPr>
          <a:xfrm>
            <a:off x="3355848" y="3557016"/>
            <a:ext cx="2542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Haversine ≤ 500m — tự tính muộn / OT / cuối tuần</a:t>
            </a:r>
            <a:endParaRPr lang="en-US" sz="1000" dirty="0"/>
          </a:p>
        </p:txBody>
      </p:sp>
      <p:sp>
        <p:nvSpPr>
          <p:cNvPr id="35" name="Shape 28"/>
          <p:cNvSpPr/>
          <p:nvPr/>
        </p:nvSpPr>
        <p:spPr>
          <a:xfrm>
            <a:off x="6172200" y="2788920"/>
            <a:ext cx="2743200" cy="1664208"/>
          </a:xfrm>
          <a:prstGeom prst="rect">
            <a:avLst/>
          </a:prstGeom>
          <a:solidFill>
            <a:srgbClr val="2D2D42"/>
          </a:solidFill>
          <a:ln w="6350">
            <a:solidFill>
              <a:srgbClr val="3A3A5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6" name="Shape 29"/>
          <p:cNvSpPr/>
          <p:nvPr/>
        </p:nvSpPr>
        <p:spPr>
          <a:xfrm>
            <a:off x="6172200" y="2788920"/>
            <a:ext cx="2743200" cy="54864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7" name="Shape 30"/>
          <p:cNvSpPr/>
          <p:nvPr/>
        </p:nvSpPr>
        <p:spPr>
          <a:xfrm>
            <a:off x="6309360" y="2990088"/>
            <a:ext cx="530352" cy="530352"/>
          </a:xfrm>
          <a:prstGeom prst="line">
            <a:avLst/>
          </a:prstGeom>
          <a:solidFill>
            <a:srgbClr val="000000"/>
          </a:solidFill>
          <a:ln w="12700">
            <a:solidFill>
              <a:srgbClr val="EC4899"/>
            </a:solidFill>
            <a:prstDash val="solid"/>
          </a:ln>
        </p:spPr>
      </p:sp>
      <p:pic>
        <p:nvPicPr>
          <p:cNvPr id="3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73368" y="3063240"/>
            <a:ext cx="384048" cy="384048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6976872" y="2990088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6 vai trò</a:t>
            </a:r>
            <a:endParaRPr lang="en-US" sz="1150" dirty="0"/>
          </a:p>
        </p:txBody>
      </p:sp>
      <p:sp>
        <p:nvSpPr>
          <p:cNvPr id="40" name="Text 32"/>
          <p:cNvSpPr/>
          <p:nvPr/>
        </p:nvSpPr>
        <p:spPr>
          <a:xfrm>
            <a:off x="6281928" y="3557016"/>
            <a:ext cx="2542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Middleware bảo vệ mọi route — sidebar + dashboard theo role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64008" cy="502920"/>
          </a:xfrm>
          <a:prstGeom prst="rect">
            <a:avLst/>
          </a:prstGeom>
          <a:solidFill>
            <a:srgbClr val="C41210"/>
          </a:solidFill>
          <a:ln w="12700">
            <a:solidFill>
              <a:srgbClr val="C4121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828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quả kiểm thử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8580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Testing — 132 Test Cases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1993392" cy="1234440"/>
          </a:xfrm>
          <a:prstGeom prst="rect">
            <a:avLst/>
          </a:prstGeom>
          <a:solidFill>
            <a:srgbClr val="2D2D42"/>
          </a:solidFill>
          <a:ln w="6350">
            <a:solidFill>
              <a:srgbClr val="3A3A5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914400"/>
            <a:ext cx="1993392" cy="54864"/>
          </a:xfrm>
          <a:prstGeom prst="rect">
            <a:avLst/>
          </a:prstGeom>
          <a:solidFill>
            <a:srgbClr val="C41210"/>
          </a:solidFill>
          <a:ln w="12700">
            <a:solidFill>
              <a:srgbClr val="C4121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987552"/>
            <a:ext cx="19933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C412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132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320040" y="1691640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468880" y="914400"/>
            <a:ext cx="1993392" cy="1234440"/>
          </a:xfrm>
          <a:prstGeom prst="rect">
            <a:avLst/>
          </a:prstGeom>
          <a:solidFill>
            <a:srgbClr val="2D2D42"/>
          </a:solidFill>
          <a:ln w="6350">
            <a:solidFill>
              <a:srgbClr val="3A3A5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68880" y="914400"/>
            <a:ext cx="1993392" cy="548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68880" y="987552"/>
            <a:ext cx="19933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127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2468880" y="1691640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17720" y="914400"/>
            <a:ext cx="1993392" cy="1234440"/>
          </a:xfrm>
          <a:prstGeom prst="rect">
            <a:avLst/>
          </a:prstGeom>
          <a:solidFill>
            <a:srgbClr val="2D2D42"/>
          </a:solidFill>
          <a:ln w="6350">
            <a:solidFill>
              <a:srgbClr val="3A3A5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17720" y="914400"/>
            <a:ext cx="1993392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17720" y="987552"/>
            <a:ext cx="19933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4617720" y="1691640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 (đã fix)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766560" y="914400"/>
            <a:ext cx="1993392" cy="1234440"/>
          </a:xfrm>
          <a:prstGeom prst="rect">
            <a:avLst/>
          </a:prstGeom>
          <a:solidFill>
            <a:srgbClr val="2D2D42"/>
          </a:solidFill>
          <a:ln w="6350">
            <a:solidFill>
              <a:srgbClr val="3A3A5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766560" y="914400"/>
            <a:ext cx="1993392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66560" y="987552"/>
            <a:ext cx="19933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96.2%</a:t>
            </a:r>
            <a:endParaRPr lang="en-US" sz="3800" dirty="0"/>
          </a:p>
        </p:txBody>
      </p:sp>
      <p:sp>
        <p:nvSpPr>
          <p:cNvPr id="20" name="Text 18"/>
          <p:cNvSpPr/>
          <p:nvPr/>
        </p:nvSpPr>
        <p:spPr>
          <a:xfrm>
            <a:off x="6766560" y="1691640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Tỉ lệ Pass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" y="2212848"/>
            <a:ext cx="3200400" cy="329184"/>
          </a:xfrm>
          <a:prstGeom prst="rect">
            <a:avLst/>
          </a:prstGeom>
          <a:solidFill>
            <a:srgbClr val="C4121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2212848"/>
            <a:ext cx="3200400" cy="329184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520440" y="2212848"/>
            <a:ext cx="1371600" cy="329184"/>
          </a:xfrm>
          <a:prstGeom prst="rect">
            <a:avLst/>
          </a:prstGeom>
          <a:solidFill>
            <a:srgbClr val="C4121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20440" y="2212848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92040" y="2212848"/>
            <a:ext cx="1371600" cy="329184"/>
          </a:xfrm>
          <a:prstGeom prst="rect">
            <a:avLst/>
          </a:prstGeom>
          <a:solidFill>
            <a:srgbClr val="C4121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92040" y="2212848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263640" y="2212848"/>
            <a:ext cx="1371600" cy="329184"/>
          </a:xfrm>
          <a:prstGeom prst="rect">
            <a:avLst/>
          </a:prstGeom>
          <a:solidFill>
            <a:srgbClr val="C4121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63640" y="2212848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20040" y="2542032"/>
            <a:ext cx="3200400" cy="242316"/>
          </a:xfrm>
          <a:prstGeom prst="rect">
            <a:avLst/>
          </a:prstGeom>
          <a:solidFill>
            <a:srgbClr val="2D2D42"/>
          </a:solidFill>
          <a:ln w="6350">
            <a:solidFill>
              <a:srgbClr val="3A3A5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2542032"/>
            <a:ext cx="3200400" cy="242316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520440" y="2542032"/>
            <a:ext cx="1371600" cy="242316"/>
          </a:xfrm>
          <a:prstGeom prst="rect">
            <a:avLst/>
          </a:prstGeom>
          <a:solidFill>
            <a:srgbClr val="2D2D42"/>
          </a:solidFill>
          <a:ln w="6350">
            <a:solidFill>
              <a:srgbClr val="3A3A5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520440" y="2542032"/>
            <a:ext cx="137160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892040" y="2542032"/>
            <a:ext cx="1371600" cy="242316"/>
          </a:xfrm>
          <a:prstGeom prst="rect">
            <a:avLst/>
          </a:prstGeom>
          <a:solidFill>
            <a:srgbClr val="2D2D42"/>
          </a:solidFill>
          <a:ln w="6350">
            <a:solidFill>
              <a:srgbClr val="3A3A5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92040" y="2542032"/>
            <a:ext cx="137160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263640" y="2542032"/>
            <a:ext cx="1371600" cy="242316"/>
          </a:xfrm>
          <a:prstGeom prst="rect">
            <a:avLst/>
          </a:prstGeom>
          <a:solidFill>
            <a:srgbClr val="2D2D42"/>
          </a:solidFill>
          <a:ln w="6350">
            <a:solidFill>
              <a:srgbClr val="3A3A5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63640" y="2542032"/>
            <a:ext cx="137160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20040" y="2784348"/>
            <a:ext cx="3200400" cy="242316"/>
          </a:xfrm>
          <a:prstGeom prst="rect">
            <a:avLst/>
          </a:prstGeom>
          <a:solidFill>
            <a:srgbClr val="252535"/>
          </a:solidFill>
          <a:ln w="6350">
            <a:solidFill>
              <a:srgbClr val="3A3A5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0040" y="2784348"/>
            <a:ext cx="3200400" cy="242316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CRUD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520440" y="2784348"/>
            <a:ext cx="1371600" cy="242316"/>
          </a:xfrm>
          <a:prstGeom prst="rect">
            <a:avLst/>
          </a:prstGeom>
          <a:solidFill>
            <a:srgbClr val="252535"/>
          </a:solidFill>
          <a:ln w="6350">
            <a:solidFill>
              <a:srgbClr val="3A3A5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520440" y="2784348"/>
            <a:ext cx="137160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892040" y="2784348"/>
            <a:ext cx="1371600" cy="242316"/>
          </a:xfrm>
          <a:prstGeom prst="rect">
            <a:avLst/>
          </a:prstGeom>
          <a:solidFill>
            <a:srgbClr val="252535"/>
          </a:solidFill>
          <a:ln w="6350">
            <a:solidFill>
              <a:srgbClr val="3A3A5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92040" y="2784348"/>
            <a:ext cx="137160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263640" y="2784348"/>
            <a:ext cx="1371600" cy="242316"/>
          </a:xfrm>
          <a:prstGeom prst="rect">
            <a:avLst/>
          </a:prstGeom>
          <a:solidFill>
            <a:srgbClr val="252535"/>
          </a:solidFill>
          <a:ln w="6350">
            <a:solidFill>
              <a:srgbClr val="3A3A5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263640" y="2784348"/>
            <a:ext cx="137160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20040" y="3026664"/>
            <a:ext cx="3200400" cy="242316"/>
          </a:xfrm>
          <a:prstGeom prst="rect">
            <a:avLst/>
          </a:prstGeom>
          <a:solidFill>
            <a:srgbClr val="2D2D42"/>
          </a:solidFill>
          <a:ln w="6350">
            <a:solidFill>
              <a:srgbClr val="3A3A5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20040" y="3026664"/>
            <a:ext cx="3200400" cy="242316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3520440" y="3026664"/>
            <a:ext cx="1371600" cy="242316"/>
          </a:xfrm>
          <a:prstGeom prst="rect">
            <a:avLst/>
          </a:prstGeom>
          <a:solidFill>
            <a:srgbClr val="2D2D42"/>
          </a:solidFill>
          <a:ln w="6350">
            <a:solidFill>
              <a:srgbClr val="3A3A5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520440" y="3026664"/>
            <a:ext cx="137160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892040" y="3026664"/>
            <a:ext cx="1371600" cy="242316"/>
          </a:xfrm>
          <a:prstGeom prst="rect">
            <a:avLst/>
          </a:prstGeom>
          <a:solidFill>
            <a:srgbClr val="2D2D42"/>
          </a:solidFill>
          <a:ln w="6350">
            <a:solidFill>
              <a:srgbClr val="3A3A5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892040" y="3026664"/>
            <a:ext cx="137160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263640" y="3026664"/>
            <a:ext cx="1371600" cy="242316"/>
          </a:xfrm>
          <a:prstGeom prst="rect">
            <a:avLst/>
          </a:prstGeom>
          <a:solidFill>
            <a:srgbClr val="2D2D42"/>
          </a:solidFill>
          <a:ln w="6350">
            <a:solidFill>
              <a:srgbClr val="3A3A5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263640" y="3026664"/>
            <a:ext cx="137160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320040" y="3268980"/>
            <a:ext cx="3200400" cy="242316"/>
          </a:xfrm>
          <a:prstGeom prst="rect">
            <a:avLst/>
          </a:prstGeom>
          <a:solidFill>
            <a:srgbClr val="252535"/>
          </a:solidFill>
          <a:ln w="6350">
            <a:solidFill>
              <a:srgbClr val="3A3A55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20040" y="3268980"/>
            <a:ext cx="3200400" cy="242316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3520440" y="3268980"/>
            <a:ext cx="1371600" cy="242316"/>
          </a:xfrm>
          <a:prstGeom prst="rect">
            <a:avLst/>
          </a:prstGeom>
          <a:solidFill>
            <a:srgbClr val="252535"/>
          </a:solidFill>
          <a:ln w="6350">
            <a:solidFill>
              <a:srgbClr val="3A3A55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520440" y="3268980"/>
            <a:ext cx="137160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4892040" y="3268980"/>
            <a:ext cx="1371600" cy="242316"/>
          </a:xfrm>
          <a:prstGeom prst="rect">
            <a:avLst/>
          </a:prstGeom>
          <a:solidFill>
            <a:srgbClr val="252535"/>
          </a:solidFill>
          <a:ln w="6350">
            <a:solidFill>
              <a:srgbClr val="3A3A55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892040" y="3268980"/>
            <a:ext cx="137160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6263640" y="3268980"/>
            <a:ext cx="1371600" cy="242316"/>
          </a:xfrm>
          <a:prstGeom prst="rect">
            <a:avLst/>
          </a:prstGeom>
          <a:solidFill>
            <a:srgbClr val="252535"/>
          </a:solidFill>
          <a:ln w="6350">
            <a:solidFill>
              <a:srgbClr val="3A3A55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263640" y="3268980"/>
            <a:ext cx="137160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320040" y="3511296"/>
            <a:ext cx="3200400" cy="242316"/>
          </a:xfrm>
          <a:prstGeom prst="rect">
            <a:avLst/>
          </a:prstGeom>
          <a:solidFill>
            <a:srgbClr val="2D2D42"/>
          </a:solidFill>
          <a:ln w="6350">
            <a:solidFill>
              <a:srgbClr val="3A3A55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20040" y="3511296"/>
            <a:ext cx="3200400" cy="242316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3520440" y="3511296"/>
            <a:ext cx="1371600" cy="242316"/>
          </a:xfrm>
          <a:prstGeom prst="rect">
            <a:avLst/>
          </a:prstGeom>
          <a:solidFill>
            <a:srgbClr val="2D2D42"/>
          </a:solidFill>
          <a:ln w="6350">
            <a:solidFill>
              <a:srgbClr val="3A3A55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520440" y="3511296"/>
            <a:ext cx="137160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4892040" y="3511296"/>
            <a:ext cx="1371600" cy="242316"/>
          </a:xfrm>
          <a:prstGeom prst="rect">
            <a:avLst/>
          </a:prstGeom>
          <a:solidFill>
            <a:srgbClr val="2D2D42"/>
          </a:solidFill>
          <a:ln w="6350">
            <a:solidFill>
              <a:srgbClr val="3A3A55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892040" y="3511296"/>
            <a:ext cx="137160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6263640" y="3511296"/>
            <a:ext cx="1371600" cy="242316"/>
          </a:xfrm>
          <a:prstGeom prst="rect">
            <a:avLst/>
          </a:prstGeom>
          <a:solidFill>
            <a:srgbClr val="2D2D42"/>
          </a:solidFill>
          <a:ln w="6350">
            <a:solidFill>
              <a:srgbClr val="3A3A55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263640" y="3511296"/>
            <a:ext cx="137160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320040" y="3753612"/>
            <a:ext cx="3200400" cy="242316"/>
          </a:xfrm>
          <a:prstGeom prst="rect">
            <a:avLst/>
          </a:prstGeom>
          <a:solidFill>
            <a:srgbClr val="252535"/>
          </a:solidFill>
          <a:ln w="6350">
            <a:solidFill>
              <a:srgbClr val="3A3A55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20040" y="3753612"/>
            <a:ext cx="3200400" cy="242316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Payroll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3520440" y="3753612"/>
            <a:ext cx="1371600" cy="242316"/>
          </a:xfrm>
          <a:prstGeom prst="rect">
            <a:avLst/>
          </a:prstGeom>
          <a:solidFill>
            <a:srgbClr val="252535"/>
          </a:solidFill>
          <a:ln w="6350">
            <a:solidFill>
              <a:srgbClr val="3A3A55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3520440" y="3753612"/>
            <a:ext cx="137160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4892040" y="3753612"/>
            <a:ext cx="1371600" cy="242316"/>
          </a:xfrm>
          <a:prstGeom prst="rect">
            <a:avLst/>
          </a:prstGeom>
          <a:solidFill>
            <a:srgbClr val="252535"/>
          </a:solidFill>
          <a:ln w="6350">
            <a:solidFill>
              <a:srgbClr val="3A3A55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892040" y="3753612"/>
            <a:ext cx="137160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6263640" y="3753612"/>
            <a:ext cx="1371600" cy="242316"/>
          </a:xfrm>
          <a:prstGeom prst="rect">
            <a:avLst/>
          </a:prstGeom>
          <a:solidFill>
            <a:srgbClr val="252535"/>
          </a:solidFill>
          <a:ln w="6350">
            <a:solidFill>
              <a:srgbClr val="3A3A55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263640" y="3753612"/>
            <a:ext cx="137160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320040" y="3995928"/>
            <a:ext cx="3200400" cy="242316"/>
          </a:xfrm>
          <a:prstGeom prst="rect">
            <a:avLst/>
          </a:prstGeom>
          <a:solidFill>
            <a:srgbClr val="2D2D42"/>
          </a:solidFill>
          <a:ln w="6350">
            <a:solidFill>
              <a:srgbClr val="3A3A55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320040" y="3995928"/>
            <a:ext cx="3200400" cy="242316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000" dirty="0"/>
          </a:p>
        </p:txBody>
      </p:sp>
      <p:sp>
        <p:nvSpPr>
          <p:cNvPr id="79" name="Shape 77"/>
          <p:cNvSpPr/>
          <p:nvPr/>
        </p:nvSpPr>
        <p:spPr>
          <a:xfrm>
            <a:off x="3520440" y="3995928"/>
            <a:ext cx="1371600" cy="242316"/>
          </a:xfrm>
          <a:prstGeom prst="rect">
            <a:avLst/>
          </a:prstGeom>
          <a:solidFill>
            <a:srgbClr val="2D2D42"/>
          </a:solidFill>
          <a:ln w="6350">
            <a:solidFill>
              <a:srgbClr val="3A3A55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3520440" y="3995928"/>
            <a:ext cx="137160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4892040" y="3995928"/>
            <a:ext cx="1371600" cy="242316"/>
          </a:xfrm>
          <a:prstGeom prst="rect">
            <a:avLst/>
          </a:prstGeom>
          <a:solidFill>
            <a:srgbClr val="2D2D42"/>
          </a:solidFill>
          <a:ln w="6350">
            <a:solidFill>
              <a:srgbClr val="3A3A55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4892040" y="3995928"/>
            <a:ext cx="137160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83" name="Shape 81"/>
          <p:cNvSpPr/>
          <p:nvPr/>
        </p:nvSpPr>
        <p:spPr>
          <a:xfrm>
            <a:off x="6263640" y="3995928"/>
            <a:ext cx="1371600" cy="242316"/>
          </a:xfrm>
          <a:prstGeom prst="rect">
            <a:avLst/>
          </a:prstGeom>
          <a:solidFill>
            <a:srgbClr val="2D2D42"/>
          </a:solidFill>
          <a:ln w="6350">
            <a:solidFill>
              <a:srgbClr val="3A3A55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6263640" y="3995928"/>
            <a:ext cx="137160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85" name="Shape 83"/>
          <p:cNvSpPr/>
          <p:nvPr/>
        </p:nvSpPr>
        <p:spPr>
          <a:xfrm>
            <a:off x="320040" y="4238244"/>
            <a:ext cx="3200400" cy="242316"/>
          </a:xfrm>
          <a:prstGeom prst="rect">
            <a:avLst/>
          </a:prstGeom>
          <a:solidFill>
            <a:srgbClr val="252535"/>
          </a:solidFill>
          <a:ln w="6350">
            <a:solidFill>
              <a:srgbClr val="3A3A55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320040" y="4238244"/>
            <a:ext cx="3200400" cy="242316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</a:t>
            </a:r>
            <a:endParaRPr lang="en-US" sz="1000" dirty="0"/>
          </a:p>
        </p:txBody>
      </p:sp>
      <p:sp>
        <p:nvSpPr>
          <p:cNvPr id="87" name="Shape 85"/>
          <p:cNvSpPr/>
          <p:nvPr/>
        </p:nvSpPr>
        <p:spPr>
          <a:xfrm>
            <a:off x="3520440" y="4238244"/>
            <a:ext cx="1371600" cy="242316"/>
          </a:xfrm>
          <a:prstGeom prst="rect">
            <a:avLst/>
          </a:prstGeom>
          <a:solidFill>
            <a:srgbClr val="252535"/>
          </a:solidFill>
          <a:ln w="6350">
            <a:solidFill>
              <a:srgbClr val="3A3A55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3520440" y="4238244"/>
            <a:ext cx="137160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89" name="Shape 87"/>
          <p:cNvSpPr/>
          <p:nvPr/>
        </p:nvSpPr>
        <p:spPr>
          <a:xfrm>
            <a:off x="4892040" y="4238244"/>
            <a:ext cx="1371600" cy="242316"/>
          </a:xfrm>
          <a:prstGeom prst="rect">
            <a:avLst/>
          </a:prstGeom>
          <a:solidFill>
            <a:srgbClr val="252535"/>
          </a:solidFill>
          <a:ln w="6350">
            <a:solidFill>
              <a:srgbClr val="3A3A55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4892040" y="4238244"/>
            <a:ext cx="137160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91" name="Shape 89"/>
          <p:cNvSpPr/>
          <p:nvPr/>
        </p:nvSpPr>
        <p:spPr>
          <a:xfrm>
            <a:off x="6263640" y="4238244"/>
            <a:ext cx="1371600" cy="242316"/>
          </a:xfrm>
          <a:prstGeom prst="rect">
            <a:avLst/>
          </a:prstGeom>
          <a:solidFill>
            <a:srgbClr val="252535"/>
          </a:solidFill>
          <a:ln w="6350">
            <a:solidFill>
              <a:srgbClr val="3A3A55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6263640" y="4238244"/>
            <a:ext cx="137160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93" name="Shape 91"/>
          <p:cNvSpPr/>
          <p:nvPr/>
        </p:nvSpPr>
        <p:spPr>
          <a:xfrm>
            <a:off x="320040" y="4480560"/>
            <a:ext cx="3200400" cy="242316"/>
          </a:xfrm>
          <a:prstGeom prst="rect">
            <a:avLst/>
          </a:prstGeom>
          <a:solidFill>
            <a:srgbClr val="2D2D42"/>
          </a:solidFill>
          <a:ln w="6350">
            <a:solidFill>
              <a:srgbClr val="3A3A55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320040" y="4480560"/>
            <a:ext cx="3200400" cy="242316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+ UI/UX</a:t>
            </a:r>
            <a:endParaRPr lang="en-US" sz="1000" dirty="0"/>
          </a:p>
        </p:txBody>
      </p:sp>
      <p:sp>
        <p:nvSpPr>
          <p:cNvPr id="95" name="Shape 93"/>
          <p:cNvSpPr/>
          <p:nvPr/>
        </p:nvSpPr>
        <p:spPr>
          <a:xfrm>
            <a:off x="3520440" y="4480560"/>
            <a:ext cx="1371600" cy="242316"/>
          </a:xfrm>
          <a:prstGeom prst="rect">
            <a:avLst/>
          </a:prstGeom>
          <a:solidFill>
            <a:srgbClr val="2D2D42"/>
          </a:solidFill>
          <a:ln w="6350">
            <a:solidFill>
              <a:srgbClr val="3A3A55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3520440" y="4480560"/>
            <a:ext cx="137160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97" name="Shape 95"/>
          <p:cNvSpPr/>
          <p:nvPr/>
        </p:nvSpPr>
        <p:spPr>
          <a:xfrm>
            <a:off x="4892040" y="4480560"/>
            <a:ext cx="1371600" cy="242316"/>
          </a:xfrm>
          <a:prstGeom prst="rect">
            <a:avLst/>
          </a:prstGeom>
          <a:solidFill>
            <a:srgbClr val="2D2D42"/>
          </a:solidFill>
          <a:ln w="6350">
            <a:solidFill>
              <a:srgbClr val="3A3A55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4892040" y="4480560"/>
            <a:ext cx="137160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99" name="Shape 97"/>
          <p:cNvSpPr/>
          <p:nvPr/>
        </p:nvSpPr>
        <p:spPr>
          <a:xfrm>
            <a:off x="6263640" y="4480560"/>
            <a:ext cx="1371600" cy="242316"/>
          </a:xfrm>
          <a:prstGeom prst="rect">
            <a:avLst/>
          </a:prstGeom>
          <a:solidFill>
            <a:srgbClr val="2D2D42"/>
          </a:solidFill>
          <a:ln w="6350">
            <a:solidFill>
              <a:srgbClr val="3A3A55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6263640" y="4480560"/>
            <a:ext cx="137160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101" name="Shape 99"/>
          <p:cNvSpPr/>
          <p:nvPr/>
        </p:nvSpPr>
        <p:spPr>
          <a:xfrm>
            <a:off x="320040" y="4722876"/>
            <a:ext cx="3200400" cy="292608"/>
          </a:xfrm>
          <a:prstGeom prst="rect">
            <a:avLst/>
          </a:prstGeom>
          <a:solidFill>
            <a:srgbClr val="2A2A40"/>
          </a:solidFill>
          <a:ln w="12700">
            <a:solidFill>
              <a:srgbClr val="C41210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320040" y="4722876"/>
            <a:ext cx="3200400" cy="29260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100" dirty="0"/>
          </a:p>
        </p:txBody>
      </p:sp>
      <p:sp>
        <p:nvSpPr>
          <p:cNvPr id="103" name="Shape 101"/>
          <p:cNvSpPr/>
          <p:nvPr/>
        </p:nvSpPr>
        <p:spPr>
          <a:xfrm>
            <a:off x="3520440" y="4722876"/>
            <a:ext cx="1371600" cy="292608"/>
          </a:xfrm>
          <a:prstGeom prst="rect">
            <a:avLst/>
          </a:prstGeom>
          <a:solidFill>
            <a:srgbClr val="2A2A40"/>
          </a:solidFill>
          <a:ln w="12700">
            <a:solidFill>
              <a:srgbClr val="C41210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3520440" y="472287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132</a:t>
            </a:r>
            <a:endParaRPr lang="en-US" sz="1100" dirty="0"/>
          </a:p>
        </p:txBody>
      </p:sp>
      <p:sp>
        <p:nvSpPr>
          <p:cNvPr id="105" name="Shape 103"/>
          <p:cNvSpPr/>
          <p:nvPr/>
        </p:nvSpPr>
        <p:spPr>
          <a:xfrm>
            <a:off x="4892040" y="4722876"/>
            <a:ext cx="1371600" cy="292608"/>
          </a:xfrm>
          <a:prstGeom prst="rect">
            <a:avLst/>
          </a:prstGeom>
          <a:solidFill>
            <a:srgbClr val="2A2A40"/>
          </a:solidFill>
          <a:ln w="12700">
            <a:solidFill>
              <a:srgbClr val="C41210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4892040" y="472287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127</a:t>
            </a:r>
            <a:endParaRPr lang="en-US" sz="1100" dirty="0"/>
          </a:p>
        </p:txBody>
      </p:sp>
      <p:sp>
        <p:nvSpPr>
          <p:cNvPr id="107" name="Shape 105"/>
          <p:cNvSpPr/>
          <p:nvPr/>
        </p:nvSpPr>
        <p:spPr>
          <a:xfrm>
            <a:off x="6263640" y="4722876"/>
            <a:ext cx="1371600" cy="292608"/>
          </a:xfrm>
          <a:prstGeom prst="rect">
            <a:avLst/>
          </a:prstGeom>
          <a:solidFill>
            <a:srgbClr val="2A2A40"/>
          </a:solidFill>
          <a:ln w="12700">
            <a:solidFill>
              <a:srgbClr val="C41210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6263640" y="472287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graphicFrame>
        <p:nvGraphicFramePr>
          <p:cNvPr id="109" name="Chart 0"/>
          <p:cNvGraphicFramePr/>
          <p:nvPr/>
        </p:nvGraphicFramePr>
        <p:xfrm>
          <a:off x="7818120" y="2212848"/>
          <a:ext cx="1005840" cy="1005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0" name="Text 107"/>
          <p:cNvSpPr/>
          <p:nvPr/>
        </p:nvSpPr>
        <p:spPr>
          <a:xfrm>
            <a:off x="7790688" y="3273552"/>
            <a:ext cx="1060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96.2%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64008" cy="502920"/>
          </a:xfrm>
          <a:prstGeom prst="rect">
            <a:avLst/>
          </a:prstGeom>
          <a:solidFill>
            <a:srgbClr val="C41210"/>
          </a:solidFill>
          <a:ln w="12700">
            <a:solidFill>
              <a:srgbClr val="C4121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828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quả đạt được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8580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 hoạch vs Thực tế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896112"/>
            <a:ext cx="3200400" cy="384048"/>
          </a:xfrm>
          <a:prstGeom prst="rect">
            <a:avLst/>
          </a:prstGeom>
          <a:solidFill>
            <a:srgbClr val="C4121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896112"/>
            <a:ext cx="3200400" cy="38404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Hạng mục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520440" y="896112"/>
            <a:ext cx="1920240" cy="384048"/>
          </a:xfrm>
          <a:prstGeom prst="rect">
            <a:avLst/>
          </a:prstGeom>
          <a:solidFill>
            <a:srgbClr val="C4121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20440" y="89611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 hoạch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40680" y="896112"/>
            <a:ext cx="3657600" cy="384048"/>
          </a:xfrm>
          <a:prstGeom prst="rect">
            <a:avLst/>
          </a:prstGeom>
          <a:solidFill>
            <a:srgbClr val="C4121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40680" y="89611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Thực tế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" y="1280160"/>
            <a:ext cx="3200400" cy="420624"/>
          </a:xfrm>
          <a:prstGeom prst="rect">
            <a:avLst/>
          </a:prstGeom>
          <a:solidFill>
            <a:srgbClr val="252535"/>
          </a:solidFill>
          <a:ln w="12700">
            <a:solidFill>
              <a:srgbClr val="3A3A5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1280160"/>
            <a:ext cx="45720" cy="420624"/>
          </a:xfrm>
          <a:prstGeom prst="rect">
            <a:avLst/>
          </a:prstGeom>
          <a:solidFill>
            <a:srgbClr val="C41210"/>
          </a:solidFill>
          <a:ln w="12700">
            <a:solidFill>
              <a:srgbClr val="C4121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9768" y="1280160"/>
            <a:ext cx="3090672" cy="42062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Số module nghiệp vụ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520440" y="1280160"/>
            <a:ext cx="1920240" cy="420624"/>
          </a:xfrm>
          <a:prstGeom prst="rect">
            <a:avLst/>
          </a:prstGeom>
          <a:solidFill>
            <a:srgbClr val="2D2D42"/>
          </a:solidFill>
          <a:ln w="12700">
            <a:solidFill>
              <a:srgbClr val="3A3A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20440" y="1280160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40680" y="1280160"/>
            <a:ext cx="3657600" cy="420624"/>
          </a:xfrm>
          <a:prstGeom prst="rect">
            <a:avLst/>
          </a:prstGeom>
          <a:solidFill>
            <a:srgbClr val="2D2D42"/>
          </a:solidFill>
          <a:ln w="12700">
            <a:solidFill>
              <a:srgbClr val="3A3A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40680" y="1280160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20040" y="1700784"/>
            <a:ext cx="3200400" cy="420624"/>
          </a:xfrm>
          <a:prstGeom prst="rect">
            <a:avLst/>
          </a:prstGeom>
          <a:solidFill>
            <a:srgbClr val="252535"/>
          </a:solidFill>
          <a:ln w="12700">
            <a:solidFill>
              <a:srgbClr val="3A3A5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" y="1700784"/>
            <a:ext cx="45720" cy="420624"/>
          </a:xfrm>
          <a:prstGeom prst="rect">
            <a:avLst/>
          </a:prstGeom>
          <a:solidFill>
            <a:srgbClr val="C41210"/>
          </a:solidFill>
          <a:ln w="12700">
            <a:solidFill>
              <a:srgbClr val="C4121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9768" y="1700784"/>
            <a:ext cx="3090672" cy="42062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Bảng cơ sở dữ liệu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520440" y="1700784"/>
            <a:ext cx="1920240" cy="420624"/>
          </a:xfrm>
          <a:prstGeom prst="rect">
            <a:avLst/>
          </a:prstGeom>
          <a:solidFill>
            <a:srgbClr val="252535"/>
          </a:solidFill>
          <a:ln w="12700">
            <a:solidFill>
              <a:srgbClr val="3A3A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20440" y="1700784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440680" y="1700784"/>
            <a:ext cx="3657600" cy="420624"/>
          </a:xfrm>
          <a:prstGeom prst="rect">
            <a:avLst/>
          </a:prstGeom>
          <a:solidFill>
            <a:srgbClr val="252535"/>
          </a:solidFill>
          <a:ln w="12700">
            <a:solidFill>
              <a:srgbClr val="3A3A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40680" y="1700784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20040" y="2121408"/>
            <a:ext cx="3200400" cy="420624"/>
          </a:xfrm>
          <a:prstGeom prst="rect">
            <a:avLst/>
          </a:prstGeom>
          <a:solidFill>
            <a:srgbClr val="252535"/>
          </a:solidFill>
          <a:ln w="12700">
            <a:solidFill>
              <a:srgbClr val="3A3A5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" y="2121408"/>
            <a:ext cx="45720" cy="420624"/>
          </a:xfrm>
          <a:prstGeom prst="rect">
            <a:avLst/>
          </a:prstGeom>
          <a:solidFill>
            <a:srgbClr val="C41210"/>
          </a:solidFill>
          <a:ln w="12700">
            <a:solidFill>
              <a:srgbClr val="C4121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9768" y="2121408"/>
            <a:ext cx="3090672" cy="42062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Vai trò người dùng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520440" y="2121408"/>
            <a:ext cx="1920240" cy="420624"/>
          </a:xfrm>
          <a:prstGeom prst="rect">
            <a:avLst/>
          </a:prstGeom>
          <a:solidFill>
            <a:srgbClr val="2D2D42"/>
          </a:solidFill>
          <a:ln w="12700">
            <a:solidFill>
              <a:srgbClr val="3A3A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520440" y="2121408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440680" y="2121408"/>
            <a:ext cx="3657600" cy="420624"/>
          </a:xfrm>
          <a:prstGeom prst="rect">
            <a:avLst/>
          </a:prstGeom>
          <a:solidFill>
            <a:srgbClr val="2D2D42"/>
          </a:solidFill>
          <a:ln w="12700">
            <a:solidFill>
              <a:srgbClr val="3A3A5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40680" y="2121408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(+Accountant, Director)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20040" y="2542032"/>
            <a:ext cx="3200400" cy="420624"/>
          </a:xfrm>
          <a:prstGeom prst="rect">
            <a:avLst/>
          </a:prstGeom>
          <a:solidFill>
            <a:srgbClr val="252535"/>
          </a:solidFill>
          <a:ln w="12700">
            <a:solidFill>
              <a:srgbClr val="3A3A5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20040" y="2542032"/>
            <a:ext cx="45720" cy="420624"/>
          </a:xfrm>
          <a:prstGeom prst="rect">
            <a:avLst/>
          </a:prstGeom>
          <a:solidFill>
            <a:srgbClr val="C41210"/>
          </a:solidFill>
          <a:ln w="12700">
            <a:solidFill>
              <a:srgbClr val="C4121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29768" y="2542032"/>
            <a:ext cx="3090672" cy="42062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Số Use Case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3520440" y="2542032"/>
            <a:ext cx="1920240" cy="420624"/>
          </a:xfrm>
          <a:prstGeom prst="rect">
            <a:avLst/>
          </a:prstGeom>
          <a:solidFill>
            <a:srgbClr val="252535"/>
          </a:solidFill>
          <a:ln w="12700">
            <a:solidFill>
              <a:srgbClr val="3A3A5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520440" y="2542032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~60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440680" y="2542032"/>
            <a:ext cx="3657600" cy="420624"/>
          </a:xfrm>
          <a:prstGeom prst="rect">
            <a:avLst/>
          </a:prstGeom>
          <a:solidFill>
            <a:srgbClr val="252535"/>
          </a:solidFill>
          <a:ln w="12700">
            <a:solidFill>
              <a:srgbClr val="3A3A5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40680" y="2542032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320040" y="2962656"/>
            <a:ext cx="3200400" cy="420624"/>
          </a:xfrm>
          <a:prstGeom prst="rect">
            <a:avLst/>
          </a:prstGeom>
          <a:solidFill>
            <a:srgbClr val="252535"/>
          </a:solidFill>
          <a:ln w="12700">
            <a:solidFill>
              <a:srgbClr val="3A3A5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20040" y="2962656"/>
            <a:ext cx="45720" cy="420624"/>
          </a:xfrm>
          <a:prstGeom prst="rect">
            <a:avLst/>
          </a:prstGeom>
          <a:solidFill>
            <a:srgbClr val="C41210"/>
          </a:solidFill>
          <a:ln w="12700">
            <a:solidFill>
              <a:srgbClr val="C4121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29768" y="2962656"/>
            <a:ext cx="3090672" cy="42062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Dữ liệu demo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3520440" y="2962656"/>
            <a:ext cx="1920240" cy="420624"/>
          </a:xfrm>
          <a:prstGeom prst="rect">
            <a:avLst/>
          </a:prstGeom>
          <a:solidFill>
            <a:srgbClr val="2D2D42"/>
          </a:solidFill>
          <a:ln w="12700">
            <a:solidFill>
              <a:srgbClr val="3A3A5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520440" y="2962656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NV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5440680" y="2962656"/>
            <a:ext cx="3657600" cy="420624"/>
          </a:xfrm>
          <a:prstGeom prst="rect">
            <a:avLst/>
          </a:prstGeom>
          <a:solidFill>
            <a:srgbClr val="2D2D42"/>
          </a:solidFill>
          <a:ln w="12700">
            <a:solidFill>
              <a:srgbClr val="3A3A5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440680" y="2962656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 NV + 6 tháng lịch sử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320040" y="3383280"/>
            <a:ext cx="3200400" cy="420624"/>
          </a:xfrm>
          <a:prstGeom prst="rect">
            <a:avLst/>
          </a:prstGeom>
          <a:solidFill>
            <a:srgbClr val="252535"/>
          </a:solidFill>
          <a:ln w="12700">
            <a:solidFill>
              <a:srgbClr val="3A3A55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20040" y="3383280"/>
            <a:ext cx="45720" cy="420624"/>
          </a:xfrm>
          <a:prstGeom prst="rect">
            <a:avLst/>
          </a:prstGeom>
          <a:solidFill>
            <a:srgbClr val="C41210"/>
          </a:solidFill>
          <a:ln w="12700">
            <a:solidFill>
              <a:srgbClr val="C4121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29768" y="3383280"/>
            <a:ext cx="3090672" cy="42062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Kiểm thử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3520440" y="3383280"/>
            <a:ext cx="1920240" cy="420624"/>
          </a:xfrm>
          <a:prstGeom prst="rect">
            <a:avLst/>
          </a:prstGeom>
          <a:solidFill>
            <a:srgbClr val="252535"/>
          </a:solidFill>
          <a:ln w="12700">
            <a:solidFill>
              <a:srgbClr val="3A3A5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520440" y="3383280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Cơ bản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5440680" y="3383280"/>
            <a:ext cx="3657600" cy="420624"/>
          </a:xfrm>
          <a:prstGeom prst="rect">
            <a:avLst/>
          </a:prstGeom>
          <a:solidFill>
            <a:srgbClr val="252535"/>
          </a:solidFill>
          <a:ln w="12700">
            <a:solidFill>
              <a:srgbClr val="3A3A5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440680" y="3383280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132 TC, 96.2% pass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320040" y="3803904"/>
            <a:ext cx="3200400" cy="420624"/>
          </a:xfrm>
          <a:prstGeom prst="rect">
            <a:avLst/>
          </a:prstGeom>
          <a:solidFill>
            <a:srgbClr val="252535"/>
          </a:solidFill>
          <a:ln w="12700">
            <a:solidFill>
              <a:srgbClr val="3A3A55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20040" y="3803904"/>
            <a:ext cx="45720" cy="420624"/>
          </a:xfrm>
          <a:prstGeom prst="rect">
            <a:avLst/>
          </a:prstGeom>
          <a:solidFill>
            <a:srgbClr val="C41210"/>
          </a:solidFill>
          <a:ln w="12700">
            <a:solidFill>
              <a:srgbClr val="C4121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29768" y="3803904"/>
            <a:ext cx="3090672" cy="42062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Dòng code ước lượng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3520440" y="3803904"/>
            <a:ext cx="1920240" cy="420624"/>
          </a:xfrm>
          <a:prstGeom prst="rect">
            <a:avLst/>
          </a:prstGeom>
          <a:solidFill>
            <a:srgbClr val="2D2D42"/>
          </a:solidFill>
          <a:ln w="12700">
            <a:solidFill>
              <a:srgbClr val="3A3A55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520440" y="3803904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~20,000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5440680" y="3803904"/>
            <a:ext cx="3657600" cy="420624"/>
          </a:xfrm>
          <a:prstGeom prst="rect">
            <a:avLst/>
          </a:prstGeom>
          <a:solidFill>
            <a:srgbClr val="2D2D42"/>
          </a:solidFill>
          <a:ln w="12700">
            <a:solidFill>
              <a:srgbClr val="3A3A55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440680" y="3803904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~50,000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320040" y="4224528"/>
            <a:ext cx="3200400" cy="420624"/>
          </a:xfrm>
          <a:prstGeom prst="rect">
            <a:avLst/>
          </a:prstGeom>
          <a:solidFill>
            <a:srgbClr val="252535"/>
          </a:solidFill>
          <a:ln w="12700">
            <a:solidFill>
              <a:srgbClr val="3A3A55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320040" y="4224528"/>
            <a:ext cx="45720" cy="420624"/>
          </a:xfrm>
          <a:prstGeom prst="rect">
            <a:avLst/>
          </a:prstGeom>
          <a:solidFill>
            <a:srgbClr val="C41210"/>
          </a:solidFill>
          <a:ln w="12700">
            <a:solidFill>
              <a:srgbClr val="C4121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29768" y="4224528"/>
            <a:ext cx="3090672" cy="42062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Xuất báo cáo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3520440" y="4224528"/>
            <a:ext cx="1920240" cy="420624"/>
          </a:xfrm>
          <a:prstGeom prst="rect">
            <a:avLst/>
          </a:prstGeom>
          <a:solidFill>
            <a:srgbClr val="252535"/>
          </a:solidFill>
          <a:ln w="12700">
            <a:solidFill>
              <a:srgbClr val="3A3A55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520440" y="4224528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kế hoạch</a:t>
            </a:r>
            <a:endParaRPr lang="en-US" sz="1050" dirty="0"/>
          </a:p>
        </p:txBody>
      </p:sp>
      <p:sp>
        <p:nvSpPr>
          <p:cNvPr id="65" name="Shape 63"/>
          <p:cNvSpPr/>
          <p:nvPr/>
        </p:nvSpPr>
        <p:spPr>
          <a:xfrm>
            <a:off x="5440680" y="4224528"/>
            <a:ext cx="3657600" cy="420624"/>
          </a:xfrm>
          <a:prstGeom prst="rect">
            <a:avLst/>
          </a:prstGeom>
          <a:solidFill>
            <a:srgbClr val="252535"/>
          </a:solidFill>
          <a:ln w="12700">
            <a:solidFill>
              <a:srgbClr val="3A3A55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440680" y="4224528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+ PDF  (bonus!)</a:t>
            </a:r>
            <a:endParaRPr lang="en-US" sz="1050" dirty="0"/>
          </a:p>
        </p:txBody>
      </p:sp>
      <p:sp>
        <p:nvSpPr>
          <p:cNvPr id="67" name="Shape 65"/>
          <p:cNvSpPr/>
          <p:nvPr/>
        </p:nvSpPr>
        <p:spPr>
          <a:xfrm>
            <a:off x="320040" y="4645152"/>
            <a:ext cx="3200400" cy="420624"/>
          </a:xfrm>
          <a:prstGeom prst="rect">
            <a:avLst/>
          </a:prstGeom>
          <a:solidFill>
            <a:srgbClr val="252535"/>
          </a:solidFill>
          <a:ln w="12700">
            <a:solidFill>
              <a:srgbClr val="3A3A55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320040" y="4645152"/>
            <a:ext cx="45720" cy="420624"/>
          </a:xfrm>
          <a:prstGeom prst="rect">
            <a:avLst/>
          </a:prstGeom>
          <a:solidFill>
            <a:srgbClr val="C41210"/>
          </a:solidFill>
          <a:ln w="12700">
            <a:solidFill>
              <a:srgbClr val="C4121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29768" y="4645152"/>
            <a:ext cx="3090672" cy="42062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Song ngữ</a:t>
            </a:r>
            <a:endParaRPr lang="en-US" sz="1050" dirty="0"/>
          </a:p>
        </p:txBody>
      </p:sp>
      <p:sp>
        <p:nvSpPr>
          <p:cNvPr id="70" name="Shape 68"/>
          <p:cNvSpPr/>
          <p:nvPr/>
        </p:nvSpPr>
        <p:spPr>
          <a:xfrm>
            <a:off x="3520440" y="4645152"/>
            <a:ext cx="1920240" cy="420624"/>
          </a:xfrm>
          <a:prstGeom prst="rect">
            <a:avLst/>
          </a:prstGeom>
          <a:solidFill>
            <a:srgbClr val="2D2D42"/>
          </a:solidFill>
          <a:ln w="12700">
            <a:solidFill>
              <a:srgbClr val="3A3A55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520440" y="4645152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kế hoạch</a:t>
            </a:r>
            <a:endParaRPr lang="en-US" sz="1050" dirty="0"/>
          </a:p>
        </p:txBody>
      </p:sp>
      <p:sp>
        <p:nvSpPr>
          <p:cNvPr id="72" name="Shape 70"/>
          <p:cNvSpPr/>
          <p:nvPr/>
        </p:nvSpPr>
        <p:spPr>
          <a:xfrm>
            <a:off x="5440680" y="4645152"/>
            <a:ext cx="3657600" cy="420624"/>
          </a:xfrm>
          <a:prstGeom prst="rect">
            <a:avLst/>
          </a:prstGeom>
          <a:solidFill>
            <a:srgbClr val="2D2D42"/>
          </a:solidFill>
          <a:ln w="12700">
            <a:solidFill>
              <a:srgbClr val="3A3A55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440680" y="4645152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 / EN toàn hệ thống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64008" cy="502920"/>
          </a:xfrm>
          <a:prstGeom prst="rect">
            <a:avLst/>
          </a:prstGeom>
          <a:solidFill>
            <a:srgbClr val="C41210"/>
          </a:solidFill>
          <a:ln w="12700">
            <a:solidFill>
              <a:srgbClr val="C4121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828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Hạn chế &amp; Hướng phát triển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8580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Cải tiến trong tương lai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4160520" cy="1170432"/>
          </a:xfrm>
          <a:prstGeom prst="rect">
            <a:avLst/>
          </a:prstGeom>
          <a:solidFill>
            <a:srgbClr val="2D2D42"/>
          </a:solidFill>
          <a:ln w="6350">
            <a:solidFill>
              <a:srgbClr val="3A3A5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914400"/>
            <a:ext cx="416052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115568"/>
            <a:ext cx="502920" cy="502920"/>
          </a:xfrm>
          <a:prstGeom prst="line">
            <a:avLst/>
          </a:prstGeom>
          <a:solidFill>
            <a:srgbClr val="000000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" y="1179576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69848" y="1042416"/>
            <a:ext cx="3310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Kiểm thử thủ công (132 TC)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1069848" y="1435608"/>
            <a:ext cx="3310128" cy="18288"/>
          </a:xfrm>
          <a:prstGeom prst="rect">
            <a:avLst/>
          </a:prstGeom>
          <a:solidFill>
            <a:srgbClr val="3A3A55"/>
          </a:solidFill>
          <a:ln w="12700">
            <a:solidFill>
              <a:srgbClr val="3A3A5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69848" y="1508760"/>
            <a:ext cx="33101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Tích hợp Jest + Testing Library — test suite tự động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754880" y="914400"/>
            <a:ext cx="4160520" cy="1170432"/>
          </a:xfrm>
          <a:prstGeom prst="rect">
            <a:avLst/>
          </a:prstGeom>
          <a:solidFill>
            <a:srgbClr val="2D2D42"/>
          </a:solidFill>
          <a:ln w="6350">
            <a:solidFill>
              <a:srgbClr val="3A3A5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754880" y="914400"/>
            <a:ext cx="416052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892040" y="1115568"/>
            <a:ext cx="502920" cy="502920"/>
          </a:xfrm>
          <a:prstGeom prst="line">
            <a:avLst/>
          </a:prstGeom>
          <a:solidFill>
            <a:srgbClr val="000000"/>
          </a:solidFill>
          <a:ln w="12700">
            <a:solidFill>
              <a:srgbClr val="3B82F6"/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6048" y="1179576"/>
            <a:ext cx="365760" cy="36576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504688" y="1042416"/>
            <a:ext cx="3310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Chưa deploy production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5504688" y="1435608"/>
            <a:ext cx="3310128" cy="18288"/>
          </a:xfrm>
          <a:prstGeom prst="rect">
            <a:avLst/>
          </a:prstGeom>
          <a:solidFill>
            <a:srgbClr val="3A3A55"/>
          </a:solidFill>
          <a:ln w="12700">
            <a:solidFill>
              <a:srgbClr val="3A3A55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504688" y="1508760"/>
            <a:ext cx="33101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Deploy Vercel (Next.js) + Railway (PostgreSQL)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320040" y="2212848"/>
            <a:ext cx="4160520" cy="1170432"/>
          </a:xfrm>
          <a:prstGeom prst="rect">
            <a:avLst/>
          </a:prstGeom>
          <a:solidFill>
            <a:srgbClr val="2D2D42"/>
          </a:solidFill>
          <a:ln w="6350">
            <a:solidFill>
              <a:srgbClr val="3A3A5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320040" y="2212848"/>
            <a:ext cx="416052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457200" y="2414016"/>
            <a:ext cx="502920" cy="502920"/>
          </a:xfrm>
          <a:prstGeom prst="line">
            <a:avLst/>
          </a:prstGeom>
          <a:solidFill>
            <a:srgbClr val="000000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208" y="2478024"/>
            <a:ext cx="365760" cy="36576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069848" y="2340864"/>
            <a:ext cx="3310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Chưa có real-time notification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1069848" y="2734056"/>
            <a:ext cx="3310128" cy="18288"/>
          </a:xfrm>
          <a:prstGeom prst="rect">
            <a:avLst/>
          </a:prstGeom>
          <a:solidFill>
            <a:srgbClr val="3A3A55"/>
          </a:solidFill>
          <a:ln w="12700">
            <a:solidFill>
              <a:srgbClr val="3A3A55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1069848" y="2807208"/>
            <a:ext cx="33101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Tích hợp WebSocket hoặc Server-Sent Events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4754880" y="2212848"/>
            <a:ext cx="4160520" cy="1170432"/>
          </a:xfrm>
          <a:prstGeom prst="rect">
            <a:avLst/>
          </a:prstGeom>
          <a:solidFill>
            <a:srgbClr val="2D2D42"/>
          </a:solidFill>
          <a:ln w="6350">
            <a:solidFill>
              <a:srgbClr val="3A3A5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4754880" y="2212848"/>
            <a:ext cx="4160520" cy="548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4892040" y="2414016"/>
            <a:ext cx="502920" cy="502920"/>
          </a:xfrm>
          <a:prstGeom prst="line">
            <a:avLst/>
          </a:prstGeom>
          <a:solidFill>
            <a:srgbClr val="000000"/>
          </a:solidFill>
          <a:ln w="12700">
            <a:solidFill>
              <a:srgbClr val="22C55E"/>
            </a:solidFill>
            <a:prstDash val="solid"/>
          </a:ln>
        </p:spPr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56048" y="2478024"/>
            <a:ext cx="365760" cy="36576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5504688" y="2340864"/>
            <a:ext cx="3310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GPS cần HTTPS</a:t>
            </a:r>
            <a:endParaRPr lang="en-US" sz="1100" dirty="0"/>
          </a:p>
        </p:txBody>
      </p:sp>
      <p:sp>
        <p:nvSpPr>
          <p:cNvPr id="31" name="Shape 25"/>
          <p:cNvSpPr/>
          <p:nvPr/>
        </p:nvSpPr>
        <p:spPr>
          <a:xfrm>
            <a:off x="5504688" y="2734056"/>
            <a:ext cx="3310128" cy="18288"/>
          </a:xfrm>
          <a:prstGeom prst="rect">
            <a:avLst/>
          </a:prstGeom>
          <a:solidFill>
            <a:srgbClr val="3A3A55"/>
          </a:solidFill>
          <a:ln w="12700">
            <a:solidFill>
              <a:srgbClr val="3A3A55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5504688" y="2807208"/>
            <a:ext cx="33101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Deploy HTTPS production hoặc dùng ngrok cho dev</a:t>
            </a:r>
            <a:endParaRPr lang="en-US" sz="1000" dirty="0"/>
          </a:p>
        </p:txBody>
      </p:sp>
      <p:sp>
        <p:nvSpPr>
          <p:cNvPr id="33" name="Shape 27"/>
          <p:cNvSpPr/>
          <p:nvPr/>
        </p:nvSpPr>
        <p:spPr>
          <a:xfrm>
            <a:off x="320040" y="3511296"/>
            <a:ext cx="4160520" cy="1170432"/>
          </a:xfrm>
          <a:prstGeom prst="rect">
            <a:avLst/>
          </a:prstGeom>
          <a:solidFill>
            <a:srgbClr val="2D2D42"/>
          </a:solidFill>
          <a:ln w="6350">
            <a:solidFill>
              <a:srgbClr val="3A3A5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4" name="Shape 28"/>
          <p:cNvSpPr/>
          <p:nvPr/>
        </p:nvSpPr>
        <p:spPr>
          <a:xfrm>
            <a:off x="320040" y="3511296"/>
            <a:ext cx="4160520" cy="54864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5" name="Shape 29"/>
          <p:cNvSpPr/>
          <p:nvPr/>
        </p:nvSpPr>
        <p:spPr>
          <a:xfrm>
            <a:off x="457200" y="3712464"/>
            <a:ext cx="502920" cy="502920"/>
          </a:xfrm>
          <a:prstGeom prst="line">
            <a:avLst/>
          </a:prstGeom>
          <a:solidFill>
            <a:srgbClr val="000000"/>
          </a:solidFill>
          <a:ln w="12700">
            <a:solidFill>
              <a:srgbClr val="EC4899"/>
            </a:solidFill>
            <a:prstDash val="solid"/>
          </a:ln>
        </p:spPr>
      </p:sp>
      <p:pic>
        <p:nvPicPr>
          <p:cNvPr id="3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1208" y="3776472"/>
            <a:ext cx="365760" cy="365760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1069848" y="3639312"/>
            <a:ext cx="3310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Chưa có Audit Log</a:t>
            </a:r>
            <a:endParaRPr lang="en-US" sz="1100" dirty="0"/>
          </a:p>
        </p:txBody>
      </p:sp>
      <p:sp>
        <p:nvSpPr>
          <p:cNvPr id="38" name="Shape 31"/>
          <p:cNvSpPr/>
          <p:nvPr/>
        </p:nvSpPr>
        <p:spPr>
          <a:xfrm>
            <a:off x="1069848" y="4032504"/>
            <a:ext cx="3310128" cy="18288"/>
          </a:xfrm>
          <a:prstGeom prst="rect">
            <a:avLst/>
          </a:prstGeom>
          <a:solidFill>
            <a:srgbClr val="3A3A55"/>
          </a:solidFill>
          <a:ln w="12700">
            <a:solidFill>
              <a:srgbClr val="3A3A55"/>
            </a:solidFill>
            <a:prstDash val="solid"/>
          </a:ln>
        </p:spPr>
      </p:sp>
      <p:sp>
        <p:nvSpPr>
          <p:cNvPr id="39" name="Text 32"/>
          <p:cNvSpPr/>
          <p:nvPr/>
        </p:nvSpPr>
        <p:spPr>
          <a:xfrm>
            <a:off x="1069848" y="4105656"/>
            <a:ext cx="33101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Thêm bảng AuditLog ghi nhận mọi thao tác người dùng</a:t>
            </a:r>
            <a:endParaRPr lang="en-US" sz="1000" dirty="0"/>
          </a:p>
        </p:txBody>
      </p:sp>
      <p:sp>
        <p:nvSpPr>
          <p:cNvPr id="40" name="Shape 33"/>
          <p:cNvSpPr/>
          <p:nvPr/>
        </p:nvSpPr>
        <p:spPr>
          <a:xfrm>
            <a:off x="4754880" y="3511296"/>
            <a:ext cx="4160520" cy="1170432"/>
          </a:xfrm>
          <a:prstGeom prst="rect">
            <a:avLst/>
          </a:prstGeom>
          <a:solidFill>
            <a:srgbClr val="2D2D42"/>
          </a:solidFill>
          <a:ln w="6350">
            <a:solidFill>
              <a:srgbClr val="3A3A5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1" name="Shape 34"/>
          <p:cNvSpPr/>
          <p:nvPr/>
        </p:nvSpPr>
        <p:spPr>
          <a:xfrm>
            <a:off x="4754880" y="3511296"/>
            <a:ext cx="4160520" cy="54864"/>
          </a:xfrm>
          <a:prstGeom prst="rect">
            <a:avLst/>
          </a:prstGeom>
          <a:solidFill>
            <a:srgbClr val="C41210"/>
          </a:solidFill>
          <a:ln w="12700">
            <a:solidFill>
              <a:srgbClr val="C41210"/>
            </a:solidFill>
            <a:prstDash val="solid"/>
          </a:ln>
        </p:spPr>
      </p:sp>
      <p:sp>
        <p:nvSpPr>
          <p:cNvPr id="42" name="Shape 35"/>
          <p:cNvSpPr/>
          <p:nvPr/>
        </p:nvSpPr>
        <p:spPr>
          <a:xfrm>
            <a:off x="4892040" y="3712464"/>
            <a:ext cx="502920" cy="502920"/>
          </a:xfrm>
          <a:prstGeom prst="line">
            <a:avLst/>
          </a:prstGeom>
          <a:solidFill>
            <a:srgbClr val="000000"/>
          </a:solidFill>
          <a:ln w="12700">
            <a:solidFill>
              <a:srgbClr val="C41210"/>
            </a:solidFill>
            <a:prstDash val="solid"/>
          </a:ln>
        </p:spPr>
      </p:sp>
      <p:pic>
        <p:nvPicPr>
          <p:cNvPr id="4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56048" y="3776472"/>
            <a:ext cx="365760" cy="365760"/>
          </a:xfrm>
          <a:prstGeom prst="rect">
            <a:avLst/>
          </a:prstGeom>
        </p:spPr>
      </p:pic>
      <p:sp>
        <p:nvSpPr>
          <p:cNvPr id="44" name="Text 36"/>
          <p:cNvSpPr/>
          <p:nvPr/>
        </p:nvSpPr>
        <p:spPr>
          <a:xfrm>
            <a:off x="5504688" y="3639312"/>
            <a:ext cx="3310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Thời gian hạn hẹp (9 tuần)</a:t>
            </a:r>
            <a:endParaRPr lang="en-US" sz="1100" dirty="0"/>
          </a:p>
        </p:txBody>
      </p:sp>
      <p:sp>
        <p:nvSpPr>
          <p:cNvPr id="45" name="Shape 37"/>
          <p:cNvSpPr/>
          <p:nvPr/>
        </p:nvSpPr>
        <p:spPr>
          <a:xfrm>
            <a:off x="5504688" y="4032504"/>
            <a:ext cx="3310128" cy="18288"/>
          </a:xfrm>
          <a:prstGeom prst="rect">
            <a:avLst/>
          </a:prstGeom>
          <a:solidFill>
            <a:srgbClr val="3A3A55"/>
          </a:solidFill>
          <a:ln w="12700">
            <a:solidFill>
              <a:srgbClr val="3A3A55"/>
            </a:solidFill>
            <a:prstDash val="solid"/>
          </a:ln>
        </p:spPr>
      </p:sp>
      <p:sp>
        <p:nvSpPr>
          <p:cNvPr id="46" name="Text 38"/>
          <p:cNvSpPr/>
          <p:nvPr/>
        </p:nvSpPr>
        <p:spPr>
          <a:xfrm>
            <a:off x="5504688" y="4105656"/>
            <a:ext cx="33101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Bổ sung CI/CD pipeline, mobile app giai đoạn sau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C41210"/>
          </a:solidFill>
          <a:ln w="12700">
            <a:solidFill>
              <a:srgbClr val="C4121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0" cy="514350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731520" cy="5143500"/>
          </a:xfrm>
          <a:prstGeom prst="rect">
            <a:avLst/>
          </a:prstGeom>
          <a:solidFill>
            <a:srgbClr val="600000"/>
          </a:solidFill>
          <a:ln w="12700">
            <a:solidFill>
              <a:srgbClr val="60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" y="731520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AXIOM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109728" y="160020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kern="0" spc="400" dirty="0">
                <a:solidFill>
                  <a:srgbClr val="FF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HRM</a:t>
            </a:r>
            <a:endParaRPr lang="en-US" sz="5200" dirty="0"/>
          </a:p>
        </p:txBody>
      </p:sp>
      <p:sp>
        <p:nvSpPr>
          <p:cNvPr id="7" name="Shape 5"/>
          <p:cNvSpPr/>
          <p:nvPr/>
        </p:nvSpPr>
        <p:spPr>
          <a:xfrm>
            <a:off x="109728" y="2514600"/>
            <a:ext cx="2651760" cy="27432"/>
          </a:xfrm>
          <a:prstGeom prst="rect">
            <a:avLst/>
          </a:prstGeom>
          <a:solidFill>
            <a:srgbClr val="FF8888"/>
          </a:solidFill>
          <a:ln w="12700">
            <a:solidFill>
              <a:srgbClr val="FF88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" y="2633472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 Quản lý</a:t>
            </a:r>
            <a:endParaRPr lang="en-US" sz="1200" dirty="0"/>
          </a:p>
          <a:p>
            <a:pPr marL="0" indent="0">
              <a:buNone/>
            </a:pPr>
            <a:r>
              <a:rPr lang="en-US" sz="1200" i="1" dirty="0">
                <a:solidFill>
                  <a:srgbClr val="FF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Nhân sự &amp; Tiền lương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383280" y="731520"/>
            <a:ext cx="5394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Cảm ơn Cô và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3383280" y="1481328"/>
            <a:ext cx="5394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C412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các bạn đã lắng nghe!</a:t>
            </a:r>
            <a:endParaRPr lang="en-US" sz="3800" dirty="0"/>
          </a:p>
        </p:txBody>
      </p:sp>
      <p:sp>
        <p:nvSpPr>
          <p:cNvPr id="11" name="Shape 9"/>
          <p:cNvSpPr/>
          <p:nvPr/>
        </p:nvSpPr>
        <p:spPr>
          <a:xfrm>
            <a:off x="3383280" y="2487168"/>
            <a:ext cx="5394960" cy="27432"/>
          </a:xfrm>
          <a:prstGeom prst="rect">
            <a:avLst/>
          </a:prstGeom>
          <a:solidFill>
            <a:srgbClr val="3A3A55"/>
          </a:solidFill>
          <a:ln w="12700">
            <a:solidFill>
              <a:srgbClr val="3A3A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2606040"/>
            <a:ext cx="5394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GVHD: Cô Võ Thị Kim Anh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383280" y="3035808"/>
            <a:ext cx="54864" cy="320040"/>
          </a:xfrm>
          <a:prstGeom prst="rect">
            <a:avLst/>
          </a:prstGeom>
          <a:solidFill>
            <a:srgbClr val="C41210"/>
          </a:solidFill>
          <a:ln w="12700">
            <a:solidFill>
              <a:srgbClr val="C4121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20440" y="303580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Hoàng Thái Đăng Khoa  ·  52400017  ·  Dev chính + PM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383280" y="3447288"/>
            <a:ext cx="54864" cy="320040"/>
          </a:xfrm>
          <a:prstGeom prst="rect">
            <a:avLst/>
          </a:prstGeom>
          <a:solidFill>
            <a:srgbClr val="C41210"/>
          </a:solidFill>
          <a:ln w="12700">
            <a:solidFill>
              <a:srgbClr val="C4121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20440" y="344728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Lê Minh Gia Bảo  ·  52400004  ·  Business Analyst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383280" y="3858768"/>
            <a:ext cx="54864" cy="320040"/>
          </a:xfrm>
          <a:prstGeom prst="rect">
            <a:avLst/>
          </a:prstGeom>
          <a:solidFill>
            <a:srgbClr val="C41210"/>
          </a:solidFill>
          <a:ln w="12700">
            <a:solidFill>
              <a:srgbClr val="C4121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20440" y="385876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Lê Tuấn Kiệt  ·  52400133  ·  Tester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383280" y="4407408"/>
            <a:ext cx="5394960" cy="594360"/>
          </a:xfrm>
          <a:prstGeom prst="rect">
            <a:avLst/>
          </a:prstGeom>
          <a:solidFill>
            <a:srgbClr val="C41210"/>
          </a:solidFill>
          <a:ln w="12700">
            <a:solidFill>
              <a:srgbClr val="C4121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83280" y="4407408"/>
            <a:ext cx="5394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Sẵn sàng demo hệ thống  🚀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1817</Words>
  <Application>Microsoft Office PowerPoint</Application>
  <PresentationFormat>On-screen Show (16:9)</PresentationFormat>
  <Paragraphs>468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AXIOM HRM</dc:title>
  <dc:subject>PptxGenJS Presentation</dc:subject>
  <dc:creator>Nhóm 52400017-52400004-52400133</dc:creator>
  <cp:lastModifiedBy>Admin</cp:lastModifiedBy>
  <cp:revision>8</cp:revision>
  <dcterms:created xsi:type="dcterms:W3CDTF">2026-05-13T09:47:37Z</dcterms:created>
  <dcterms:modified xsi:type="dcterms:W3CDTF">2026-05-13T14:28:35Z</dcterms:modified>
</cp:coreProperties>
</file>